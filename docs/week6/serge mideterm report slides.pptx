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5" r:id="rId4"/>
  </p:sldMasterIdLst>
  <p:sldIdLst>
    <p:sldId id="282" r:id="rId5"/>
    <p:sldId id="263" r:id="rId6"/>
    <p:sldId id="264" r:id="rId7"/>
    <p:sldId id="265" r:id="rId8"/>
    <p:sldId id="275" r:id="rId9"/>
    <p:sldId id="266" r:id="rId10"/>
    <p:sldId id="267" r:id="rId11"/>
    <p:sldId id="268" r:id="rId12"/>
    <p:sldId id="269" r:id="rId13"/>
    <p:sldId id="270" r:id="rId14"/>
    <p:sldId id="271" r:id="rId15"/>
    <p:sldId id="286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416"/>
    <p:restoredTop sz="94647"/>
  </p:normalViewPr>
  <p:slideViewPr>
    <p:cSldViewPr snapToGrid="0" snapToObjects="1">
      <p:cViewPr>
        <p:scale>
          <a:sx n="113" d="100"/>
          <a:sy n="113" d="100"/>
        </p:scale>
        <p:origin x="116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57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6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44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2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2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5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8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2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8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oCircle1"/>
          <p:cNvSpPr/>
          <p:nvPr/>
        </p:nvSpPr>
        <p:spPr>
          <a:xfrm>
            <a:off x="8636000" y="-1524000"/>
            <a:ext cx="5080000" cy="5080000"/>
          </a:xfrm>
          <a:prstGeom prst="ellipse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" name="DecoCircle2"/>
          <p:cNvSpPr/>
          <p:nvPr/>
        </p:nvSpPr>
        <p:spPr>
          <a:xfrm>
            <a:off x="-1016000" y="4318000"/>
            <a:ext cx="3556000" cy="3556000"/>
          </a:xfrm>
          <a:prstGeom prst="ellipse">
            <a:avLst/>
          </a:prstGeom>
          <a:solidFill>
            <a:srgbClr val="FFFFFF">
              <a:alpha val="6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" name="DecoCircle3"/>
          <p:cNvSpPr/>
          <p:nvPr/>
        </p:nvSpPr>
        <p:spPr>
          <a:xfrm>
            <a:off x="10795000" y="4064000"/>
            <a:ext cx="1778000" cy="1778000"/>
          </a:xfrm>
          <a:prstGeom prst="ellipse">
            <a:avLst/>
          </a:prstGeom>
          <a:solidFill>
            <a:srgbClr val="FFFFFF">
              <a:alpha val="5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AccentLine"/>
          <p:cNvSpPr/>
          <p:nvPr/>
        </p:nvSpPr>
        <p:spPr>
          <a:xfrm>
            <a:off x="1016000" y="3327400"/>
            <a:ext cx="1270000" cy="38100"/>
          </a:xfrm>
          <a:prstGeom prst="rect">
            <a:avLst/>
          </a:prstGeom>
          <a:solidFill>
            <a:srgbClr val="FFFFFF">
              <a:alpha val="9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" name="MainTitle"/>
          <p:cNvSpPr/>
          <p:nvPr/>
        </p:nvSpPr>
        <p:spPr>
          <a:xfrm>
            <a:off x="1016000" y="1714500"/>
            <a:ext cx="6350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/>
          <a:lstStyle/>
          <a:p>
            <a:pPr algn="l"/>
            <a:r>
              <a:rPr lang="fr-FR" sz="7200" b="1" spc="600" dirty="0">
                <a:solidFill>
                  <a:srgbClr val="FFFFFF"/>
                </a:solidFill>
                <a:latin typeface="Inter"/>
              </a:rPr>
              <a:t>SERGE</a:t>
            </a:r>
          </a:p>
        </p:txBody>
      </p:sp>
      <p:sp>
        <p:nvSpPr>
          <p:cNvPr id="21" name="Subtitle"/>
          <p:cNvSpPr/>
          <p:nvPr/>
        </p:nvSpPr>
        <p:spPr>
          <a:xfrm>
            <a:off x="1016000" y="3492500"/>
            <a:ext cx="533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2600"/>
              </a:lnSpc>
            </a:pPr>
            <a:r>
              <a:rPr lang="fr-FR" sz="2000" dirty="0">
                <a:solidFill>
                  <a:srgbClr val="FFFFFF">
                    <a:alpha val="85000"/>
                  </a:srgbClr>
                </a:solidFill>
                <a:latin typeface="Inter"/>
              </a:rPr>
              <a:t>AI Agent for Supply Chain Operations</a:t>
            </a:r>
          </a:p>
        </p:txBody>
      </p:sp>
      <p:sp>
        <p:nvSpPr>
          <p:cNvPr id="30" name="CoursePill"/>
          <p:cNvSpPr/>
          <p:nvPr/>
        </p:nvSpPr>
        <p:spPr>
          <a:xfrm>
            <a:off x="1016000" y="914400"/>
            <a:ext cx="431800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0">
            <a:noFill/>
          </a:ln>
        </p:spPr>
        <p:txBody>
          <a:bodyPr wrap="square" lIns="91440" tIns="0" rIns="91440" bIns="0" anchor="ctr"/>
          <a:lstStyle/>
          <a:p>
            <a:pPr algn="ctr"/>
            <a:r>
              <a:rPr lang="fr-FR" sz="1400" spc="100" dirty="0">
                <a:solidFill>
                  <a:srgbClr val="FFFFFF">
                    <a:alpha val="90000"/>
                  </a:srgbClr>
                </a:solidFill>
                <a:latin typeface="Inter"/>
              </a:rPr>
              <a:t>SE618 — Logistic Case Study Analysis</a:t>
            </a:r>
          </a:p>
        </p:txBody>
      </p:sp>
      <p:sp>
        <p:nvSpPr>
          <p:cNvPr id="40" name="ContentCard"/>
          <p:cNvSpPr/>
          <p:nvPr/>
        </p:nvSpPr>
        <p:spPr>
          <a:xfrm>
            <a:off x="6959600" y="1651000"/>
            <a:ext cx="2184400" cy="2857500"/>
          </a:xfrm>
          <a:prstGeom prst="roundRect">
            <a:avLst>
              <a:gd name="adj" fmla="val 5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03200" tIns="203200" rIns="203200" bIns="152400" anchor="t"/>
          <a:lstStyle/>
          <a:p>
            <a:pPr algn="l">
              <a:spcAft>
                <a:spcPts val="400"/>
              </a:spcAft>
            </a:pPr>
            <a:r>
              <a:rPr lang="fr-FR" sz="1400" spc="200" dirty="0">
                <a:solidFill>
                  <a:srgbClr val="2D5BFF"/>
                </a:solidFill>
                <a:latin typeface="Inter"/>
              </a:rPr>
              <a:t>TEAM MEMBERS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lang="fr-FR" sz="1500" b="1" dirty="0">
                <a:solidFill>
                  <a:srgbClr val="1A1A2E"/>
                </a:solidFill>
                <a:latin typeface="Inter"/>
              </a:rPr>
              <a:t>Gauthier SCHMITT</a:t>
            </a:r>
          </a:p>
          <a:p>
            <a:pPr algn="l">
              <a:lnSpc>
                <a:spcPts val="1600"/>
              </a:lnSpc>
              <a:spcAft>
                <a:spcPts val="300"/>
              </a:spcAft>
            </a:pPr>
            <a:r>
              <a:rPr lang="fr-FR" sz="1400" dirty="0">
                <a:solidFill>
                  <a:srgbClr val="888888"/>
                </a:solidFill>
                <a:latin typeface="Inter"/>
              </a:rPr>
              <a:t>6822807466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lang="fr-FR" sz="1500" b="1" dirty="0">
                <a:solidFill>
                  <a:srgbClr val="1A1A2E"/>
                </a:solidFill>
                <a:latin typeface="Inter"/>
              </a:rPr>
              <a:t>Louis GRIGNOLA</a:t>
            </a:r>
          </a:p>
          <a:p>
            <a:pPr algn="l">
              <a:lnSpc>
                <a:spcPts val="1600"/>
              </a:lnSpc>
              <a:spcAft>
                <a:spcPts val="300"/>
              </a:spcAft>
            </a:pPr>
            <a:r>
              <a:rPr lang="fr-FR" sz="1400" dirty="0">
                <a:solidFill>
                  <a:srgbClr val="888888"/>
                </a:solidFill>
                <a:latin typeface="Inter"/>
              </a:rPr>
              <a:t>6822807516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lang="fr-FR" sz="1500" b="1" dirty="0">
                <a:solidFill>
                  <a:srgbClr val="1A1A2E"/>
                </a:solidFill>
                <a:latin typeface="Inter"/>
              </a:rPr>
              <a:t>Matteo SCHWARZ</a:t>
            </a:r>
          </a:p>
          <a:p>
            <a:pPr algn="l">
              <a:lnSpc>
                <a:spcPts val="1600"/>
              </a:lnSpc>
              <a:spcAft>
                <a:spcPts val="300"/>
              </a:spcAft>
            </a:pPr>
            <a:r>
              <a:rPr lang="fr-FR" sz="1400" dirty="0">
                <a:solidFill>
                  <a:srgbClr val="888888"/>
                </a:solidFill>
                <a:latin typeface="Inter"/>
              </a:rPr>
              <a:t>6822807557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lang="fr-FR" sz="1500" b="1" dirty="0">
                <a:solidFill>
                  <a:srgbClr val="1A1A2E"/>
                </a:solidFill>
                <a:latin typeface="Inter"/>
              </a:rPr>
              <a:t>Maël TELLUS</a:t>
            </a:r>
          </a:p>
          <a:p>
            <a:pPr algn="l">
              <a:lnSpc>
                <a:spcPts val="1600"/>
              </a:lnSpc>
            </a:pPr>
            <a:r>
              <a:rPr lang="fr-FR" sz="1400" dirty="0">
                <a:solidFill>
                  <a:srgbClr val="888888"/>
                </a:solidFill>
                <a:latin typeface="Inter"/>
              </a:rPr>
              <a:t>6822807532</a:t>
            </a:r>
          </a:p>
        </p:txBody>
      </p:sp>
      <p:sp>
        <p:nvSpPr>
          <p:cNvPr id="50" name="FooterInfo"/>
          <p:cNvSpPr/>
          <p:nvPr/>
        </p:nvSpPr>
        <p:spPr>
          <a:xfrm>
            <a:off x="1016000" y="5715000"/>
            <a:ext cx="533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/>
          <a:lstStyle/>
          <a:p>
            <a:pPr algn="l">
              <a:lnSpc>
                <a:spcPts val="1800"/>
              </a:lnSpc>
            </a:pPr>
            <a:r>
              <a:rPr lang="fr-FR" sz="1400" dirty="0">
                <a:solidFill>
                  <a:srgbClr val="FFFFFF">
                    <a:alpha val="70000"/>
                  </a:srgbClr>
                </a:solidFill>
                <a:latin typeface="Inter"/>
              </a:rPr>
              <a:t>Sirindhorn International Institute of Technology</a:t>
            </a:r>
          </a:p>
          <a:p>
            <a:pPr algn="l">
              <a:lnSpc>
                <a:spcPts val="1800"/>
              </a:lnSpc>
            </a:pPr>
            <a:r>
              <a:rPr lang="fr-FR" sz="1400" dirty="0">
                <a:solidFill>
                  <a:srgbClr val="FFFFFF">
                    <a:alpha val="70000"/>
                  </a:srgbClr>
                </a:solidFill>
                <a:latin typeface="Inter"/>
              </a:rPr>
              <a:t>Thammasat University  •  March 2026  •  Semester 2/2025</a:t>
            </a:r>
          </a:p>
        </p:txBody>
      </p:sp>
      <p:pic>
        <p:nvPicPr>
          <p:cNvPr id="63" name="Graphic 63" descr="AI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292600"/>
            <a:ext cx="698500" cy="698500"/>
          </a:xfrm>
          <a:prstGeom prst="rect">
            <a:avLst/>
          </a:prstGeom>
        </p:spPr>
      </p:pic>
      <p:pic>
        <p:nvPicPr>
          <p:cNvPr id="64" name="Graphic 64" descr="Network connection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8500" y="4343400"/>
            <a:ext cx="571500" cy="571500"/>
          </a:xfrm>
          <a:prstGeom prst="rect">
            <a:avLst/>
          </a:prstGeom>
        </p:spPr>
      </p:pic>
      <p:pic>
        <p:nvPicPr>
          <p:cNvPr id="65" name="Graphic 65" descr="Analytics char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0" y="43815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3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2192AF5-5E4D-CC45-8EEA-AE5BF0BCD980}"/>
              </a:ext>
            </a:extLst>
          </p:cNvPr>
          <p:cNvSpPr txBox="1"/>
          <p:nvPr/>
        </p:nvSpPr>
        <p:spPr>
          <a:xfrm>
            <a:off x="889000" y="444500"/>
            <a:ext cx="635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200" b="1">
                <a:solidFill>
                  <a:srgbClr val="1A1A2E"/>
                </a:solidFill>
              </a:rPr>
              <a:t>The Problem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FD89D12-7D5F-6D47-950E-595FFA9B1D17}"/>
              </a:ext>
            </a:extLst>
          </p:cNvPr>
          <p:cNvSpPr txBox="1"/>
          <p:nvPr/>
        </p:nvSpPr>
        <p:spPr>
          <a:xfrm>
            <a:off x="889000" y="10414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>
                <a:solidFill>
                  <a:srgbClr val="6B6B7B"/>
                </a:solidFill>
              </a:rPr>
              <a:t>Supply chain systems operate in silos — managers waste time jumping between them.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627A0D2-716E-9C46-9205-344798A3738E}"/>
              </a:ext>
            </a:extLst>
          </p:cNvPr>
          <p:cNvSpPr/>
          <p:nvPr/>
        </p:nvSpPr>
        <p:spPr>
          <a:xfrm>
            <a:off x="889000" y="1651000"/>
            <a:ext cx="5080000" cy="1143000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C1DC778-CEFD-C042-AE07-6F3D64AB6CAA}"/>
              </a:ext>
            </a:extLst>
          </p:cNvPr>
          <p:cNvSpPr txBox="1"/>
          <p:nvPr/>
        </p:nvSpPr>
        <p:spPr>
          <a:xfrm>
            <a:off x="1143000" y="1887510"/>
            <a:ext cx="1143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600" b="1" dirty="0">
                <a:solidFill>
                  <a:srgbClr val="2D5BFF"/>
                </a:solidFill>
              </a:rPr>
              <a:t>6%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F7F8CD0-2E80-EF40-AB40-E95D82E93269}"/>
              </a:ext>
            </a:extLst>
          </p:cNvPr>
          <p:cNvSpPr txBox="1"/>
          <p:nvPr/>
        </p:nvSpPr>
        <p:spPr>
          <a:xfrm>
            <a:off x="2286000" y="1936020"/>
            <a:ext cx="3429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dirty="0">
                <a:solidFill>
                  <a:srgbClr val="4A4A5A"/>
                </a:solidFill>
              </a:rPr>
              <a:t>of </a:t>
            </a:r>
            <a:r>
              <a:rPr lang="fr-FR" sz="1600" dirty="0" err="1">
                <a:solidFill>
                  <a:srgbClr val="4A4A5A"/>
                </a:solidFill>
              </a:rPr>
              <a:t>companies</a:t>
            </a:r>
            <a:r>
              <a:rPr lang="fr-FR" sz="1600" dirty="0">
                <a:solidFill>
                  <a:srgbClr val="4A4A5A"/>
                </a:solidFill>
              </a:rPr>
              <a:t> have full
</a:t>
            </a:r>
            <a:r>
              <a:rPr lang="fr-FR" sz="1600" dirty="0" err="1">
                <a:solidFill>
                  <a:srgbClr val="4A4A5A"/>
                </a:solidFill>
              </a:rPr>
              <a:t>supply</a:t>
            </a:r>
            <a:r>
              <a:rPr lang="fr-FR" sz="1600" dirty="0">
                <a:solidFill>
                  <a:srgbClr val="4A4A5A"/>
                </a:solidFill>
              </a:rPr>
              <a:t> </a:t>
            </a:r>
            <a:r>
              <a:rPr lang="fr-FR" sz="1600" dirty="0" err="1">
                <a:solidFill>
                  <a:srgbClr val="4A4A5A"/>
                </a:solidFill>
              </a:rPr>
              <a:t>chain</a:t>
            </a:r>
            <a:r>
              <a:rPr lang="fr-FR" sz="1600" dirty="0">
                <a:solidFill>
                  <a:srgbClr val="4A4A5A"/>
                </a:solidFill>
              </a:rPr>
              <a:t> </a:t>
            </a:r>
            <a:r>
              <a:rPr lang="fr-FR" sz="1600" dirty="0" err="1">
                <a:solidFill>
                  <a:srgbClr val="4A4A5A"/>
                </a:solidFill>
              </a:rPr>
              <a:t>visibility</a:t>
            </a:r>
            <a:endParaRPr lang="fr-FR" sz="1600" dirty="0">
              <a:solidFill>
                <a:srgbClr val="4A4A5A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3F8BCDC-6ADB-9F4B-BD52-AFAB61168046}"/>
              </a:ext>
            </a:extLst>
          </p:cNvPr>
          <p:cNvSpPr/>
          <p:nvPr/>
        </p:nvSpPr>
        <p:spPr>
          <a:xfrm>
            <a:off x="6223000" y="1651000"/>
            <a:ext cx="5080000" cy="1143000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49FBEF4-EA7C-2C4B-A940-BF65682874DA}"/>
              </a:ext>
            </a:extLst>
          </p:cNvPr>
          <p:cNvSpPr txBox="1"/>
          <p:nvPr/>
        </p:nvSpPr>
        <p:spPr>
          <a:xfrm>
            <a:off x="6477000" y="1917490"/>
            <a:ext cx="1651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800" b="1" dirty="0">
                <a:solidFill>
                  <a:srgbClr val="FF6B6B"/>
                </a:solidFill>
              </a:rPr>
              <a:t>15-30m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3C9D2B7-E277-2340-8BCA-AA534B2AF9CD}"/>
              </a:ext>
            </a:extLst>
          </p:cNvPr>
          <p:cNvSpPr txBox="1"/>
          <p:nvPr/>
        </p:nvSpPr>
        <p:spPr>
          <a:xfrm>
            <a:off x="8128000" y="1906040"/>
            <a:ext cx="2921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dirty="0">
                <a:solidFill>
                  <a:srgbClr val="4A4A5A"/>
                </a:solidFill>
              </a:rPr>
              <a:t>per investigation </a:t>
            </a:r>
            <a:r>
              <a:rPr lang="fr-FR" sz="1600" dirty="0" err="1">
                <a:solidFill>
                  <a:srgbClr val="4A4A5A"/>
                </a:solidFill>
              </a:rPr>
              <a:t>across</a:t>
            </a:r>
            <a:r>
              <a:rPr lang="fr-FR" sz="1600" dirty="0">
                <a:solidFill>
                  <a:srgbClr val="4A4A5A"/>
                </a:solidFill>
              </a:rPr>
              <a:t>
3-4 </a:t>
            </a:r>
            <a:r>
              <a:rPr lang="fr-FR" sz="1600" dirty="0" err="1">
                <a:solidFill>
                  <a:srgbClr val="4A4A5A"/>
                </a:solidFill>
              </a:rPr>
              <a:t>separate</a:t>
            </a:r>
            <a:r>
              <a:rPr lang="fr-FR" sz="1600" dirty="0">
                <a:solidFill>
                  <a:srgbClr val="4A4A5A"/>
                </a:solidFill>
              </a:rPr>
              <a:t> </a:t>
            </a:r>
            <a:r>
              <a:rPr lang="fr-FR" sz="1600" dirty="0" err="1">
                <a:solidFill>
                  <a:srgbClr val="4A4A5A"/>
                </a:solidFill>
              </a:rPr>
              <a:t>systems</a:t>
            </a:r>
            <a:endParaRPr lang="fr-FR" sz="1600" dirty="0">
              <a:solidFill>
                <a:srgbClr val="4A4A5A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0933D04-7435-F943-93F6-7E9A6AB981A3}"/>
              </a:ext>
            </a:extLst>
          </p:cNvPr>
          <p:cNvSpPr/>
          <p:nvPr/>
        </p:nvSpPr>
        <p:spPr>
          <a:xfrm>
            <a:off x="889000" y="3175000"/>
            <a:ext cx="2476500" cy="6985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D5B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C18B845-2478-0B4E-AB9E-4A5D3AB7CC97}"/>
              </a:ext>
            </a:extLst>
          </p:cNvPr>
          <p:cNvSpPr txBox="1"/>
          <p:nvPr/>
        </p:nvSpPr>
        <p:spPr>
          <a:xfrm>
            <a:off x="1016000" y="3340100"/>
            <a:ext cx="222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2D5BFF"/>
                </a:solidFill>
              </a:rPr>
              <a:t>SRM  •  Supplier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7A9BA1F-BBE6-FD4D-AF90-E7373F9F2559}"/>
              </a:ext>
            </a:extLst>
          </p:cNvPr>
          <p:cNvSpPr/>
          <p:nvPr/>
        </p:nvSpPr>
        <p:spPr>
          <a:xfrm>
            <a:off x="3594100" y="3175000"/>
            <a:ext cx="2476500" cy="6985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C4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483C05A-23F6-1247-9006-F4B4D31906ED}"/>
              </a:ext>
            </a:extLst>
          </p:cNvPr>
          <p:cNvSpPr txBox="1"/>
          <p:nvPr/>
        </p:nvSpPr>
        <p:spPr>
          <a:xfrm>
            <a:off x="3721100" y="3340100"/>
            <a:ext cx="222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00C48C"/>
                </a:solidFill>
              </a:rPr>
              <a:t>WMS  •  Warehouse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BBC613D-456F-BE40-9D1A-DD0E7DDB0583}"/>
              </a:ext>
            </a:extLst>
          </p:cNvPr>
          <p:cNvSpPr/>
          <p:nvPr/>
        </p:nvSpPr>
        <p:spPr>
          <a:xfrm>
            <a:off x="6299200" y="3175000"/>
            <a:ext cx="2476500" cy="6985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EFDF341-8DC7-094C-A7C4-801282920032}"/>
              </a:ext>
            </a:extLst>
          </p:cNvPr>
          <p:cNvSpPr txBox="1"/>
          <p:nvPr/>
        </p:nvSpPr>
        <p:spPr>
          <a:xfrm>
            <a:off x="6426200" y="3340100"/>
            <a:ext cx="222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FFB020"/>
                </a:solidFill>
              </a:rPr>
              <a:t>OMS  •  Orders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B205C84-2574-1144-B129-32B4DF1572A3}"/>
              </a:ext>
            </a:extLst>
          </p:cNvPr>
          <p:cNvSpPr/>
          <p:nvPr/>
        </p:nvSpPr>
        <p:spPr>
          <a:xfrm>
            <a:off x="9004300" y="3175000"/>
            <a:ext cx="2476500" cy="6985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7C5CF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F5A3CC3-02FB-8D4A-8242-3BD62689FE65}"/>
              </a:ext>
            </a:extLst>
          </p:cNvPr>
          <p:cNvSpPr txBox="1"/>
          <p:nvPr/>
        </p:nvSpPr>
        <p:spPr>
          <a:xfrm>
            <a:off x="9131300" y="3340100"/>
            <a:ext cx="222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7C5CFC"/>
                </a:solidFill>
              </a:rPr>
              <a:t>TMS  •  Transport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A4A85B4-B0CE-C843-9609-37CF7D096DFD}"/>
              </a:ext>
            </a:extLst>
          </p:cNvPr>
          <p:cNvSpPr txBox="1"/>
          <p:nvPr/>
        </p:nvSpPr>
        <p:spPr>
          <a:xfrm>
            <a:off x="889000" y="42545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b="1">
                <a:solidFill>
                  <a:srgbClr val="1A1A2E"/>
                </a:solidFill>
              </a:rPr>
              <a:t>What goes wrong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890D8B7-28C7-F04B-9100-6ED0F388F248}"/>
              </a:ext>
            </a:extLst>
          </p:cNvPr>
          <p:cNvSpPr/>
          <p:nvPr/>
        </p:nvSpPr>
        <p:spPr>
          <a:xfrm>
            <a:off x="889000" y="4826000"/>
            <a:ext cx="127000" cy="1270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5B7799A-7A6B-FA41-B119-A0A6CF2D5BCC}"/>
              </a:ext>
            </a:extLst>
          </p:cNvPr>
          <p:cNvSpPr txBox="1"/>
          <p:nvPr/>
        </p:nvSpPr>
        <p:spPr>
          <a:xfrm>
            <a:off x="1143000" y="4762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Slow response to customer inquiries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BCC7058E-CC1A-144C-8876-9C75B2F7EA8A}"/>
              </a:ext>
            </a:extLst>
          </p:cNvPr>
          <p:cNvSpPr/>
          <p:nvPr/>
        </p:nvSpPr>
        <p:spPr>
          <a:xfrm>
            <a:off x="6350000" y="4826000"/>
            <a:ext cx="127000" cy="1270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BC20374-525F-534E-949E-DE8642F952F0}"/>
              </a:ext>
            </a:extLst>
          </p:cNvPr>
          <p:cNvSpPr txBox="1"/>
          <p:nvPr/>
        </p:nvSpPr>
        <p:spPr>
          <a:xfrm>
            <a:off x="6604000" y="4762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Incomplete investigations — data missed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C28C19A-9221-9B48-A329-ECE04E5B0073}"/>
              </a:ext>
            </a:extLst>
          </p:cNvPr>
          <p:cNvSpPr/>
          <p:nvPr/>
        </p:nvSpPr>
        <p:spPr>
          <a:xfrm>
            <a:off x="889000" y="5283200"/>
            <a:ext cx="127000" cy="1270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378B604-BCC5-1044-A4A1-5A1FA7EEF9B8}"/>
              </a:ext>
            </a:extLst>
          </p:cNvPr>
          <p:cNvSpPr txBox="1"/>
          <p:nvPr/>
        </p:nvSpPr>
        <p:spPr>
          <a:xfrm>
            <a:off x="1143000" y="52197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Knowledge locked in senior staff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3ECB9EF8-12EF-B04B-AC88-3ACE99BCEB0A}"/>
              </a:ext>
            </a:extLst>
          </p:cNvPr>
          <p:cNvSpPr/>
          <p:nvPr/>
        </p:nvSpPr>
        <p:spPr>
          <a:xfrm>
            <a:off x="6350000" y="5283200"/>
            <a:ext cx="127000" cy="1270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08A040D-4643-FD47-A0F1-A4AC0176E532}"/>
              </a:ext>
            </a:extLst>
          </p:cNvPr>
          <p:cNvSpPr txBox="1"/>
          <p:nvPr/>
        </p:nvSpPr>
        <p:spPr>
          <a:xfrm>
            <a:off x="6604000" y="52197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No audit trail of diagnostic work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49EBE16-B4DC-6C44-B2D3-9B7E57260B02}"/>
              </a:ext>
            </a:extLst>
          </p:cNvPr>
          <p:cNvSpPr txBox="1"/>
          <p:nvPr/>
        </p:nvSpPr>
        <p:spPr>
          <a:xfrm>
            <a:off x="889000" y="60706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dirty="0">
                <a:solidFill>
                  <a:srgbClr val="BFBFBF"/>
                </a:solidFill>
              </a:rPr>
              <a:t>Source: GEODIS, 2024</a:t>
            </a:r>
          </a:p>
        </p:txBody>
      </p:sp>
    </p:spTree>
    <p:extLst>
      <p:ext uri="{BB962C8B-B14F-4D97-AF65-F5344CB8AC3E}">
        <p14:creationId xmlns:p14="http://schemas.microsoft.com/office/powerpoint/2010/main" val="2528712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F4F9C30-E2EC-C145-8F26-6904A3E45A77}"/>
              </a:ext>
            </a:extLst>
          </p:cNvPr>
          <p:cNvSpPr txBox="1"/>
          <p:nvPr/>
        </p:nvSpPr>
        <p:spPr>
          <a:xfrm>
            <a:off x="889000" y="4445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200" b="1">
                <a:solidFill>
                  <a:srgbClr val="1A1A2E"/>
                </a:solidFill>
              </a:rPr>
              <a:t>What is an AI Agent?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92A3D98-15DA-BF47-8DD4-CC34D8DAA77B}"/>
              </a:ext>
            </a:extLst>
          </p:cNvPr>
          <p:cNvSpPr txBox="1"/>
          <p:nvPr/>
        </p:nvSpPr>
        <p:spPr>
          <a:xfrm>
            <a:off x="889000" y="1079500"/>
            <a:ext cx="10414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>
                <a:solidFill>
                  <a:srgbClr val="6B6B7B"/>
                </a:solidFill>
              </a:rPr>
              <a:t>An LLM alone can only generate text. An agent wraps an LLM with tools,
so it can perceive, reason, act, and learn from its environment.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5DAF5D-980D-DF49-A648-24E33F8B52B8}"/>
              </a:ext>
            </a:extLst>
          </p:cNvPr>
          <p:cNvSpPr/>
          <p:nvPr/>
        </p:nvSpPr>
        <p:spPr>
          <a:xfrm>
            <a:off x="889000" y="1968500"/>
            <a:ext cx="3302000" cy="63500"/>
          </a:xfrm>
          <a:prstGeom prst="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B158A8-2927-C646-AE8F-E7C915BAEFFC}"/>
              </a:ext>
            </a:extLst>
          </p:cNvPr>
          <p:cNvSpPr txBox="1"/>
          <p:nvPr/>
        </p:nvSpPr>
        <p:spPr>
          <a:xfrm>
            <a:off x="1143000" y="22225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000" b="1">
                <a:solidFill>
                  <a:srgbClr val="2D5BFF"/>
                </a:solidFill>
              </a:rPr>
              <a:t>Planning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2AE1A9E-74F7-0244-8D1D-D7D6F4CDB497}"/>
              </a:ext>
            </a:extLst>
          </p:cNvPr>
          <p:cNvSpPr txBox="1"/>
          <p:nvPr/>
        </p:nvSpPr>
        <p:spPr>
          <a:xfrm>
            <a:off x="1143000" y="2667000"/>
            <a:ext cx="279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Breaks a task into steps.
Decides what to do next
based on observations.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448EB1-CCC9-594E-966C-918DB5852368}"/>
              </a:ext>
            </a:extLst>
          </p:cNvPr>
          <p:cNvSpPr/>
          <p:nvPr/>
        </p:nvSpPr>
        <p:spPr>
          <a:xfrm>
            <a:off x="4508500" y="1968500"/>
            <a:ext cx="3302000" cy="63500"/>
          </a:xfrm>
          <a:prstGeom prst="rect">
            <a:avLst/>
          </a:prstGeom>
          <a:solidFill>
            <a:srgbClr val="7C5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E14B905-FA09-1E4F-B4F7-2FBB374DCC23}"/>
              </a:ext>
            </a:extLst>
          </p:cNvPr>
          <p:cNvSpPr txBox="1"/>
          <p:nvPr/>
        </p:nvSpPr>
        <p:spPr>
          <a:xfrm>
            <a:off x="4762500" y="22225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000" b="1">
                <a:solidFill>
                  <a:srgbClr val="7C5CFC"/>
                </a:solidFill>
              </a:rPr>
              <a:t>Memory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DC93A74-A335-3747-B856-39DF622F4217}"/>
              </a:ext>
            </a:extLst>
          </p:cNvPr>
          <p:cNvSpPr txBox="1"/>
          <p:nvPr/>
        </p:nvSpPr>
        <p:spPr>
          <a:xfrm>
            <a:off x="4762500" y="2667000"/>
            <a:ext cx="279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Keeps track of context,
previous tool results,
and conversation history.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DD83E2-67ED-2044-BE97-6596B3DA9085}"/>
              </a:ext>
            </a:extLst>
          </p:cNvPr>
          <p:cNvSpPr/>
          <p:nvPr/>
        </p:nvSpPr>
        <p:spPr>
          <a:xfrm>
            <a:off x="8128000" y="1968500"/>
            <a:ext cx="3302000" cy="63500"/>
          </a:xfrm>
          <a:prstGeom prst="rect">
            <a:avLst/>
          </a:prstGeom>
          <a:solidFill>
            <a:srgbClr val="00C4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1C5AA41-8343-2D48-814B-31E0A48F900A}"/>
              </a:ext>
            </a:extLst>
          </p:cNvPr>
          <p:cNvSpPr txBox="1"/>
          <p:nvPr/>
        </p:nvSpPr>
        <p:spPr>
          <a:xfrm>
            <a:off x="8382000" y="22225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000" b="1">
                <a:solidFill>
                  <a:srgbClr val="00C48C"/>
                </a:solidFill>
              </a:rPr>
              <a:t>Tool Use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279F7AB-EF87-904F-9A31-A18B5900FC84}"/>
              </a:ext>
            </a:extLst>
          </p:cNvPr>
          <p:cNvSpPr txBox="1"/>
          <p:nvPr/>
        </p:nvSpPr>
        <p:spPr>
          <a:xfrm>
            <a:off x="8382000" y="2667000"/>
            <a:ext cx="279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Calls external APIs,
queries databases, reads
files — takes real actions.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36F31C2-FC80-344D-80FA-F63B35FA4222}"/>
              </a:ext>
            </a:extLst>
          </p:cNvPr>
          <p:cNvSpPr txBox="1"/>
          <p:nvPr/>
        </p:nvSpPr>
        <p:spPr>
          <a:xfrm>
            <a:off x="889000" y="43815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b="1">
                <a:solidFill>
                  <a:srgbClr val="1A1A2E"/>
                </a:solidFill>
              </a:rPr>
              <a:t>The Agentic Loop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D8091ED-D312-D749-863E-6D87A677A525}"/>
              </a:ext>
            </a:extLst>
          </p:cNvPr>
          <p:cNvSpPr/>
          <p:nvPr/>
        </p:nvSpPr>
        <p:spPr>
          <a:xfrm>
            <a:off x="889000" y="4889500"/>
            <a:ext cx="1905000" cy="558800"/>
          </a:xfrm>
          <a:prstGeom prst="round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Observe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E6F7332-D3B9-1B4E-A25B-74AAA4BE7FC8}"/>
              </a:ext>
            </a:extLst>
          </p:cNvPr>
          <p:cNvSpPr txBox="1"/>
          <p:nvPr/>
        </p:nvSpPr>
        <p:spPr>
          <a:xfrm>
            <a:off x="2895600" y="4927600"/>
            <a:ext cx="330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200">
                <a:solidFill>
                  <a:srgbClr val="BFBFBF"/>
                </a:solidFill>
              </a:rPr>
              <a:t>→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D58EA4D-34D8-4F41-84E4-7585DF59EC6A}"/>
              </a:ext>
            </a:extLst>
          </p:cNvPr>
          <p:cNvSpPr/>
          <p:nvPr/>
        </p:nvSpPr>
        <p:spPr>
          <a:xfrm>
            <a:off x="3327400" y="4889500"/>
            <a:ext cx="1905000" cy="558800"/>
          </a:xfrm>
          <a:prstGeom prst="roundRect">
            <a:avLst/>
          </a:prstGeom>
          <a:solidFill>
            <a:srgbClr val="7C5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Think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5DA92EA-A849-1E4C-8133-8F860FE91D4E}"/>
              </a:ext>
            </a:extLst>
          </p:cNvPr>
          <p:cNvSpPr txBox="1"/>
          <p:nvPr/>
        </p:nvSpPr>
        <p:spPr>
          <a:xfrm>
            <a:off x="5334000" y="4927600"/>
            <a:ext cx="330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200">
                <a:solidFill>
                  <a:srgbClr val="BFBFBF"/>
                </a:solidFill>
              </a:rPr>
              <a:t>→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E6F336FD-FB08-4843-BD38-73114276C933}"/>
              </a:ext>
            </a:extLst>
          </p:cNvPr>
          <p:cNvSpPr/>
          <p:nvPr/>
        </p:nvSpPr>
        <p:spPr>
          <a:xfrm>
            <a:off x="5765800" y="4889500"/>
            <a:ext cx="1905000" cy="558800"/>
          </a:xfrm>
          <a:prstGeom prst="roundRect">
            <a:avLst/>
          </a:prstGeom>
          <a:solidFill>
            <a:srgbClr val="00C4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2149FE5-B4F8-1046-AB10-A85DF86D3FF3}"/>
              </a:ext>
            </a:extLst>
          </p:cNvPr>
          <p:cNvSpPr txBox="1"/>
          <p:nvPr/>
        </p:nvSpPr>
        <p:spPr>
          <a:xfrm>
            <a:off x="7772400" y="4927600"/>
            <a:ext cx="330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200">
                <a:solidFill>
                  <a:srgbClr val="BFBFBF"/>
                </a:solidFill>
              </a:rPr>
              <a:t>→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D85CAF4-AFBE-A546-9BFC-8CF09666958C}"/>
              </a:ext>
            </a:extLst>
          </p:cNvPr>
          <p:cNvSpPr/>
          <p:nvPr/>
        </p:nvSpPr>
        <p:spPr>
          <a:xfrm>
            <a:off x="8204200" y="4889500"/>
            <a:ext cx="1905000" cy="558800"/>
          </a:xfrm>
          <a:prstGeom prst="round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Repeat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97104FE-C5EF-7A44-8531-A7CBCBA89C24}"/>
              </a:ext>
            </a:extLst>
          </p:cNvPr>
          <p:cNvSpPr txBox="1"/>
          <p:nvPr/>
        </p:nvSpPr>
        <p:spPr>
          <a:xfrm>
            <a:off x="889000" y="5842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8E8E9A"/>
                </a:solidFill>
              </a:rPr>
              <a:t>We use Claude Code — a state-of-the-art agent by Anthropic with integrated deep reasoning, file-system access, and skill composition.</a:t>
            </a:r>
          </a:p>
        </p:txBody>
      </p:sp>
    </p:spTree>
    <p:extLst>
      <p:ext uri="{BB962C8B-B14F-4D97-AF65-F5344CB8AC3E}">
        <p14:creationId xmlns:p14="http://schemas.microsoft.com/office/powerpoint/2010/main" val="25571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AC1A971-F2CC-254C-AB66-A0B252E70DF8}"/>
              </a:ext>
            </a:extLst>
          </p:cNvPr>
          <p:cNvSpPr txBox="1"/>
          <p:nvPr/>
        </p:nvSpPr>
        <p:spPr>
          <a:xfrm>
            <a:off x="889000" y="4445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200" b="1">
                <a:solidFill>
                  <a:srgbClr val="1A1A2E"/>
                </a:solidFill>
              </a:rPr>
              <a:t>What is MCP?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AB5EF7A-C5FA-4240-A306-E9243B279F05}"/>
              </a:ext>
            </a:extLst>
          </p:cNvPr>
          <p:cNvSpPr txBox="1"/>
          <p:nvPr/>
        </p:nvSpPr>
        <p:spPr>
          <a:xfrm>
            <a:off x="889000" y="10795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>
                <a:solidFill>
                  <a:srgbClr val="6B6B7B"/>
                </a:solidFill>
              </a:rPr>
              <a:t>Model Context Protocol — the USB-C of AI. One standard to connect any agent to any tool.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A98F680-071C-0840-AF30-ED6FE5DD2D03}"/>
              </a:ext>
            </a:extLst>
          </p:cNvPr>
          <p:cNvSpPr txBox="1"/>
          <p:nvPr/>
        </p:nvSpPr>
        <p:spPr>
          <a:xfrm>
            <a:off x="889000" y="17145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b="1">
                <a:solidFill>
                  <a:srgbClr val="FF6B6B"/>
                </a:solidFill>
              </a:rPr>
              <a:t>WITHOUT MCP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10E615F-F9D5-814C-9587-28E3267D7ADE}"/>
              </a:ext>
            </a:extLst>
          </p:cNvPr>
          <p:cNvSpPr/>
          <p:nvPr/>
        </p:nvSpPr>
        <p:spPr>
          <a:xfrm>
            <a:off x="889000" y="2057400"/>
            <a:ext cx="4953000" cy="1651000"/>
          </a:xfrm>
          <a:prstGeom prst="roundRect">
            <a:avLst/>
          </a:prstGeom>
          <a:solidFill>
            <a:srgbClr val="FFF0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3E067EE-F9DD-6C49-9728-8F8B343FA6A8}"/>
              </a:ext>
            </a:extLst>
          </p:cNvPr>
          <p:cNvSpPr txBox="1"/>
          <p:nvPr/>
        </p:nvSpPr>
        <p:spPr>
          <a:xfrm>
            <a:off x="1143000" y="2184400"/>
            <a:ext cx="4445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Every agent needs a custom connector
for every tool. N agents × M tools
= N×M integrations.
Doesn’t scale. Fragile. Expensive.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0C15A78-E1FF-8440-BFC0-96AF645C4FAE}"/>
              </a:ext>
            </a:extLst>
          </p:cNvPr>
          <p:cNvSpPr txBox="1"/>
          <p:nvPr/>
        </p:nvSpPr>
        <p:spPr>
          <a:xfrm>
            <a:off x="6350000" y="17145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b="1">
                <a:solidFill>
                  <a:srgbClr val="00C48C"/>
                </a:solidFill>
              </a:rPr>
              <a:t>WITH MCP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FF88D70-C835-3048-AD0E-0FD0E5C319C2}"/>
              </a:ext>
            </a:extLst>
          </p:cNvPr>
          <p:cNvSpPr/>
          <p:nvPr/>
        </p:nvSpPr>
        <p:spPr>
          <a:xfrm>
            <a:off x="6350000" y="2057400"/>
            <a:ext cx="4953000" cy="1651000"/>
          </a:xfrm>
          <a:prstGeom prst="roundRect">
            <a:avLst/>
          </a:prstGeom>
          <a:solidFill>
            <a:srgbClr val="F0F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714C979-46EC-ED42-8763-9A66EE2E2478}"/>
              </a:ext>
            </a:extLst>
          </p:cNvPr>
          <p:cNvSpPr txBox="1"/>
          <p:nvPr/>
        </p:nvSpPr>
        <p:spPr>
          <a:xfrm>
            <a:off x="6604000" y="2184400"/>
            <a:ext cx="4445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Both sides implement one protocol.
Any agent connects to any tool.
1 standard replaces N×M integrations.
Plug-and-play. Open. Scalable.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17C512F-7B4D-E244-A334-C629BC53A1EA}"/>
              </a:ext>
            </a:extLst>
          </p:cNvPr>
          <p:cNvSpPr txBox="1"/>
          <p:nvPr/>
        </p:nvSpPr>
        <p:spPr>
          <a:xfrm>
            <a:off x="889000" y="40386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b="1">
                <a:solidFill>
                  <a:srgbClr val="1A1A2E"/>
                </a:solidFill>
              </a:rPr>
              <a:t>MCP’s three primitives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79942E-0F58-F147-9882-67AD1322AD17}"/>
              </a:ext>
            </a:extLst>
          </p:cNvPr>
          <p:cNvSpPr/>
          <p:nvPr/>
        </p:nvSpPr>
        <p:spPr>
          <a:xfrm>
            <a:off x="889000" y="4546600"/>
            <a:ext cx="3302000" cy="50800"/>
          </a:xfrm>
          <a:prstGeom prst="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50B0EE0-6706-7F46-9152-0E1751639D1D}"/>
              </a:ext>
            </a:extLst>
          </p:cNvPr>
          <p:cNvSpPr txBox="1"/>
          <p:nvPr/>
        </p:nvSpPr>
        <p:spPr>
          <a:xfrm>
            <a:off x="889000" y="46990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700" b="1">
                <a:solidFill>
                  <a:srgbClr val="2D5BFF"/>
                </a:solidFill>
              </a:rPr>
              <a:t>Tools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40A0F3D-0874-F148-A54D-E83449429A3A}"/>
              </a:ext>
            </a:extLst>
          </p:cNvPr>
          <p:cNvSpPr txBox="1"/>
          <p:nvPr/>
        </p:nvSpPr>
        <p:spPr>
          <a:xfrm>
            <a:off x="889000" y="5029200"/>
            <a:ext cx="3302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Callable functions the
agent can invoke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0030B2-79FC-074F-8477-7A617950C519}"/>
              </a:ext>
            </a:extLst>
          </p:cNvPr>
          <p:cNvSpPr/>
          <p:nvPr/>
        </p:nvSpPr>
        <p:spPr>
          <a:xfrm>
            <a:off x="4572000" y="4546600"/>
            <a:ext cx="3302000" cy="50800"/>
          </a:xfrm>
          <a:prstGeom prst="rect">
            <a:avLst/>
          </a:prstGeom>
          <a:solidFill>
            <a:srgbClr val="7C5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532403A-2451-FF43-898A-910CA58580B1}"/>
              </a:ext>
            </a:extLst>
          </p:cNvPr>
          <p:cNvSpPr txBox="1"/>
          <p:nvPr/>
        </p:nvSpPr>
        <p:spPr>
          <a:xfrm>
            <a:off x="4572000" y="46990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700" b="1">
                <a:solidFill>
                  <a:srgbClr val="7C5CFC"/>
                </a:solidFill>
              </a:rPr>
              <a:t>Resources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30C13D9-1919-8446-BEA2-57EC2AB67E17}"/>
              </a:ext>
            </a:extLst>
          </p:cNvPr>
          <p:cNvSpPr txBox="1"/>
          <p:nvPr/>
        </p:nvSpPr>
        <p:spPr>
          <a:xfrm>
            <a:off x="4572000" y="5029200"/>
            <a:ext cx="3302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Data endpoints the
agent can read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6334B8-3A25-C743-AC3A-8F4C6720CFA1}"/>
              </a:ext>
            </a:extLst>
          </p:cNvPr>
          <p:cNvSpPr/>
          <p:nvPr/>
        </p:nvSpPr>
        <p:spPr>
          <a:xfrm>
            <a:off x="8255000" y="4546600"/>
            <a:ext cx="3302000" cy="50800"/>
          </a:xfrm>
          <a:prstGeom prst="rect">
            <a:avLst/>
          </a:prstGeom>
          <a:solidFill>
            <a:srgbClr val="00C4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B4C9520-22AC-AA45-9E40-9F612A022635}"/>
              </a:ext>
            </a:extLst>
          </p:cNvPr>
          <p:cNvSpPr txBox="1"/>
          <p:nvPr/>
        </p:nvSpPr>
        <p:spPr>
          <a:xfrm>
            <a:off x="8255000" y="46990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700" b="1">
                <a:solidFill>
                  <a:srgbClr val="00C48C"/>
                </a:solidFill>
              </a:rPr>
              <a:t>Prompts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1F8A995-8BC5-0440-A2B0-C59CF55AE7BA}"/>
              </a:ext>
            </a:extLst>
          </p:cNvPr>
          <p:cNvSpPr txBox="1"/>
          <p:nvPr/>
        </p:nvSpPr>
        <p:spPr>
          <a:xfrm>
            <a:off x="8255000" y="5029200"/>
            <a:ext cx="3302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Reusable templates
for common tasks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670C26E-85DB-914F-B102-8BECCA12BFCF}"/>
              </a:ext>
            </a:extLst>
          </p:cNvPr>
          <p:cNvSpPr txBox="1"/>
          <p:nvPr/>
        </p:nvSpPr>
        <p:spPr>
          <a:xfrm>
            <a:off x="889000" y="5943600"/>
            <a:ext cx="1041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dirty="0" err="1">
                <a:solidFill>
                  <a:srgbClr val="ABABAB"/>
                </a:solidFill>
              </a:rPr>
              <a:t>Introduced</a:t>
            </a:r>
            <a:r>
              <a:rPr lang="fr-FR" sz="1400" dirty="0">
                <a:solidFill>
                  <a:srgbClr val="ABABAB"/>
                </a:solidFill>
              </a:rPr>
              <a:t> by </a:t>
            </a:r>
            <a:r>
              <a:rPr lang="fr-FR" sz="1400" dirty="0" err="1">
                <a:solidFill>
                  <a:srgbClr val="ABABAB"/>
                </a:solidFill>
              </a:rPr>
              <a:t>Anthropic</a:t>
            </a:r>
            <a:r>
              <a:rPr lang="fr-FR" sz="1400" dirty="0">
                <a:solidFill>
                  <a:srgbClr val="ABABAB"/>
                </a:solidFill>
              </a:rPr>
              <a:t> (2024)  •  1,000+ servers  •  </a:t>
            </a:r>
            <a:r>
              <a:rPr lang="fr-FR" sz="1400" dirty="0" err="1">
                <a:solidFill>
                  <a:srgbClr val="ABABAB"/>
                </a:solidFill>
              </a:rPr>
              <a:t>Adopted</a:t>
            </a:r>
            <a:r>
              <a:rPr lang="fr-FR" sz="1400" dirty="0">
                <a:solidFill>
                  <a:srgbClr val="ABABAB"/>
                </a:solidFill>
              </a:rPr>
              <a:t> by Microsoft, Salesforce, Oracle</a:t>
            </a:r>
          </a:p>
        </p:txBody>
      </p:sp>
    </p:spTree>
    <p:extLst>
      <p:ext uri="{BB962C8B-B14F-4D97-AF65-F5344CB8AC3E}">
        <p14:creationId xmlns:p14="http://schemas.microsoft.com/office/powerpoint/2010/main" val="198227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3993A54-C032-E847-8316-4942786C9F36}"/>
              </a:ext>
            </a:extLst>
          </p:cNvPr>
          <p:cNvSpPr txBox="1"/>
          <p:nvPr/>
        </p:nvSpPr>
        <p:spPr>
          <a:xfrm>
            <a:off x="889000" y="4445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200" b="1">
                <a:solidFill>
                  <a:srgbClr val="1A1A2E"/>
                </a:solidFill>
              </a:rPr>
              <a:t>The Role of SERGE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84BC86E-5B5B-E64E-AD63-1A55B0B481B1}"/>
              </a:ext>
            </a:extLst>
          </p:cNvPr>
          <p:cNvSpPr txBox="1"/>
          <p:nvPr/>
        </p:nvSpPr>
        <p:spPr>
          <a:xfrm>
            <a:off x="889000" y="10414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>
                <a:solidFill>
                  <a:srgbClr val="6B6B7B"/>
                </a:solidFill>
              </a:rPr>
              <a:t>SERGE is not an LLM. It is the bridge that lets any AI agent talk to your supply chain.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67A2061-D9F8-9644-878E-6583358AB445}"/>
              </a:ext>
            </a:extLst>
          </p:cNvPr>
          <p:cNvSpPr/>
          <p:nvPr/>
        </p:nvSpPr>
        <p:spPr>
          <a:xfrm>
            <a:off x="635000" y="1841500"/>
            <a:ext cx="1397000" cy="698500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1600" b="1" dirty="0">
                <a:solidFill>
                  <a:srgbClr val="4A4A5A"/>
                </a:solidFill>
              </a:rPr>
              <a:t>User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349C543-750E-8743-8ADC-EE39FA0644F3}"/>
              </a:ext>
            </a:extLst>
          </p:cNvPr>
          <p:cNvSpPr txBox="1"/>
          <p:nvPr/>
        </p:nvSpPr>
        <p:spPr>
          <a:xfrm>
            <a:off x="459490" y="2590800"/>
            <a:ext cx="177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400" i="1" dirty="0">
                <a:solidFill>
                  <a:srgbClr val="8E8E9A"/>
                </a:solidFill>
              </a:rPr>
              <a:t>"</a:t>
            </a:r>
            <a:r>
              <a:rPr lang="fr-FR" sz="1400" i="1" dirty="0" err="1">
                <a:solidFill>
                  <a:srgbClr val="8E8E9A"/>
                </a:solidFill>
              </a:rPr>
              <a:t>Why</a:t>
            </a:r>
            <a:r>
              <a:rPr lang="fr-FR" sz="1400" i="1" dirty="0">
                <a:solidFill>
                  <a:srgbClr val="8E8E9A"/>
                </a:solidFill>
              </a:rPr>
              <a:t> </a:t>
            </a:r>
            <a:r>
              <a:rPr lang="fr-FR" sz="1400" i="1" dirty="0" err="1">
                <a:solidFill>
                  <a:srgbClr val="8E8E9A"/>
                </a:solidFill>
              </a:rPr>
              <a:t>is</a:t>
            </a:r>
            <a:r>
              <a:rPr lang="fr-FR" sz="1400" i="1" dirty="0">
                <a:solidFill>
                  <a:srgbClr val="8E8E9A"/>
                </a:solidFill>
              </a:rPr>
              <a:t> </a:t>
            </a:r>
            <a:r>
              <a:rPr lang="fr-FR" sz="1400" i="1" dirty="0" err="1">
                <a:solidFill>
                  <a:srgbClr val="8E8E9A"/>
                </a:solidFill>
              </a:rPr>
              <a:t>order</a:t>
            </a:r>
            <a:r>
              <a:rPr lang="fr-FR" sz="1400" i="1" dirty="0">
                <a:solidFill>
                  <a:srgbClr val="8E8E9A"/>
                </a:solidFill>
              </a:rPr>
              <a:t>
#1234 </a:t>
            </a:r>
            <a:r>
              <a:rPr lang="fr-FR" sz="1400" i="1" dirty="0" err="1">
                <a:solidFill>
                  <a:srgbClr val="8E8E9A"/>
                </a:solidFill>
              </a:rPr>
              <a:t>delayed</a:t>
            </a:r>
            <a:r>
              <a:rPr lang="fr-FR" sz="1400" i="1" dirty="0">
                <a:solidFill>
                  <a:srgbClr val="8E8E9A"/>
                </a:solidFill>
              </a:rPr>
              <a:t>?"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F130EB-1334-C641-B100-2D0D142FB287}"/>
              </a:ext>
            </a:extLst>
          </p:cNvPr>
          <p:cNvSpPr txBox="1"/>
          <p:nvPr/>
        </p:nvSpPr>
        <p:spPr>
          <a:xfrm>
            <a:off x="2095500" y="19939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200">
                <a:solidFill>
                  <a:srgbClr val="BFBFBF"/>
                </a:solidFill>
              </a:rPr>
              <a:t>→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EFCD94C-7A3C-5A4F-844D-54337B3742DA}"/>
              </a:ext>
            </a:extLst>
          </p:cNvPr>
          <p:cNvSpPr/>
          <p:nvPr/>
        </p:nvSpPr>
        <p:spPr>
          <a:xfrm>
            <a:off x="2540000" y="1841500"/>
            <a:ext cx="1778000" cy="698500"/>
          </a:xfrm>
          <a:prstGeom prst="round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1600" b="1" dirty="0">
                <a:solidFill>
                  <a:srgbClr val="FFFFFF"/>
                </a:solidFill>
              </a:rPr>
              <a:t>AI Agent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BDF3603-0CD6-6F4F-A746-C091D15074D9}"/>
              </a:ext>
            </a:extLst>
          </p:cNvPr>
          <p:cNvSpPr txBox="1"/>
          <p:nvPr/>
        </p:nvSpPr>
        <p:spPr>
          <a:xfrm>
            <a:off x="2506480" y="2590800"/>
            <a:ext cx="1905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400" dirty="0" err="1">
                <a:solidFill>
                  <a:srgbClr val="8E8E9A"/>
                </a:solidFill>
              </a:rPr>
              <a:t>Reasons</a:t>
            </a:r>
            <a:r>
              <a:rPr lang="fr-FR" sz="1400" dirty="0">
                <a:solidFill>
                  <a:srgbClr val="8E8E9A"/>
                </a:solidFill>
              </a:rPr>
              <a:t>, plans,
calls </a:t>
            </a:r>
            <a:r>
              <a:rPr lang="fr-FR" sz="1400" dirty="0" err="1">
                <a:solidFill>
                  <a:srgbClr val="8E8E9A"/>
                </a:solidFill>
              </a:rPr>
              <a:t>tools</a:t>
            </a:r>
            <a:endParaRPr lang="fr-FR" sz="1400" dirty="0">
              <a:solidFill>
                <a:srgbClr val="8E8E9A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884DB38-6EB3-F84B-BA8E-6E99DBE1A9AF}"/>
              </a:ext>
            </a:extLst>
          </p:cNvPr>
          <p:cNvSpPr txBox="1"/>
          <p:nvPr/>
        </p:nvSpPr>
        <p:spPr>
          <a:xfrm>
            <a:off x="4381500" y="19939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200">
                <a:solidFill>
                  <a:srgbClr val="BFBFBF"/>
                </a:solidFill>
              </a:rPr>
              <a:t>→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23ED2A4-F191-524D-8A2E-DD20F388F82B}"/>
              </a:ext>
            </a:extLst>
          </p:cNvPr>
          <p:cNvSpPr/>
          <p:nvPr/>
        </p:nvSpPr>
        <p:spPr>
          <a:xfrm>
            <a:off x="4826000" y="1739900"/>
            <a:ext cx="2286000" cy="901700"/>
          </a:xfrm>
          <a:prstGeom prst="roundRect">
            <a:avLst/>
          </a:prstGeom>
          <a:solidFill>
            <a:srgbClr val="FFFFFF"/>
          </a:solidFill>
          <a:ln w="38100" cap="flat" cmpd="sng" algn="ctr">
            <a:solidFill>
              <a:srgbClr val="2D5B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2000" b="1" dirty="0">
                <a:solidFill>
                  <a:srgbClr val="2D5BFF"/>
                </a:solidFill>
              </a:rPr>
              <a:t>SERGE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415BBFF-6D3B-A34C-AC9A-A78F847F87B1}"/>
              </a:ext>
            </a:extLst>
          </p:cNvPr>
          <p:cNvSpPr txBox="1"/>
          <p:nvPr/>
        </p:nvSpPr>
        <p:spPr>
          <a:xfrm>
            <a:off x="4885960" y="2692400"/>
            <a:ext cx="2286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400" dirty="0">
                <a:solidFill>
                  <a:srgbClr val="2D5BFF"/>
                </a:solidFill>
              </a:rPr>
              <a:t>MCP </a:t>
            </a:r>
            <a:r>
              <a:rPr lang="fr-FR" sz="1400" dirty="0" err="1">
                <a:solidFill>
                  <a:srgbClr val="2D5BFF"/>
                </a:solidFill>
              </a:rPr>
              <a:t>tools</a:t>
            </a:r>
            <a:r>
              <a:rPr lang="fr-FR" sz="1400" dirty="0">
                <a:solidFill>
                  <a:srgbClr val="2D5BFF"/>
                </a:solidFill>
              </a:rPr>
              <a:t>
Read-</a:t>
            </a:r>
            <a:r>
              <a:rPr lang="fr-FR" sz="1400" dirty="0" err="1">
                <a:solidFill>
                  <a:srgbClr val="2D5BFF"/>
                </a:solidFill>
              </a:rPr>
              <a:t>only</a:t>
            </a:r>
            <a:r>
              <a:rPr lang="fr-FR" sz="1400" dirty="0">
                <a:solidFill>
                  <a:srgbClr val="2D5BFF"/>
                </a:solidFill>
              </a:rPr>
              <a:t> </a:t>
            </a:r>
            <a:r>
              <a:rPr lang="fr-FR" sz="1400" dirty="0" err="1">
                <a:solidFill>
                  <a:srgbClr val="2D5BFF"/>
                </a:solidFill>
              </a:rPr>
              <a:t>access</a:t>
            </a:r>
            <a:endParaRPr lang="fr-FR" sz="1400" dirty="0">
              <a:solidFill>
                <a:srgbClr val="2D5BFF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41751C4-32A9-3140-83EF-441BD3A73D0A}"/>
              </a:ext>
            </a:extLst>
          </p:cNvPr>
          <p:cNvSpPr txBox="1"/>
          <p:nvPr/>
        </p:nvSpPr>
        <p:spPr>
          <a:xfrm>
            <a:off x="7175500" y="19939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200">
                <a:solidFill>
                  <a:srgbClr val="BFBFBF"/>
                </a:solidFill>
              </a:rPr>
              <a:t>→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51D9443-26BD-3E48-A5F0-3988817E9C58}"/>
              </a:ext>
            </a:extLst>
          </p:cNvPr>
          <p:cNvSpPr/>
          <p:nvPr/>
        </p:nvSpPr>
        <p:spPr>
          <a:xfrm>
            <a:off x="7620000" y="1841500"/>
            <a:ext cx="1016000" cy="698500"/>
          </a:xfrm>
          <a:prstGeom prst="roundRect">
            <a:avLst/>
          </a:prstGeom>
          <a:solidFill>
            <a:srgbClr val="F5F5F7"/>
          </a:solidFill>
          <a:ln w="25400" cap="flat" cmpd="sng" algn="ctr">
            <a:solidFill>
              <a:srgbClr val="2D5B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1500" b="1" dirty="0">
                <a:solidFill>
                  <a:srgbClr val="2D5BFF"/>
                </a:solidFill>
              </a:rPr>
              <a:t>SRM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09439CA-A64D-DE47-A518-EBECC902E10B}"/>
              </a:ext>
            </a:extLst>
          </p:cNvPr>
          <p:cNvSpPr/>
          <p:nvPr/>
        </p:nvSpPr>
        <p:spPr>
          <a:xfrm>
            <a:off x="8737600" y="1841500"/>
            <a:ext cx="1016000" cy="698500"/>
          </a:xfrm>
          <a:prstGeom prst="roundRect">
            <a:avLst/>
          </a:prstGeom>
          <a:solidFill>
            <a:srgbClr val="F5F5F7"/>
          </a:solidFill>
          <a:ln w="25400" cap="flat" cmpd="sng" algn="ctr">
            <a:solidFill>
              <a:srgbClr val="00C4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1500" b="1" dirty="0">
                <a:solidFill>
                  <a:srgbClr val="00C48C"/>
                </a:solidFill>
              </a:rPr>
              <a:t>WMS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A647AA5-E9F7-D34D-A619-4E190EFE1831}"/>
              </a:ext>
            </a:extLst>
          </p:cNvPr>
          <p:cNvSpPr/>
          <p:nvPr/>
        </p:nvSpPr>
        <p:spPr>
          <a:xfrm>
            <a:off x="9855200" y="1841500"/>
            <a:ext cx="1016000" cy="698500"/>
          </a:xfrm>
          <a:prstGeom prst="roundRect">
            <a:avLst/>
          </a:prstGeom>
          <a:solidFill>
            <a:srgbClr val="F5F5F7"/>
          </a:solidFill>
          <a:ln w="2540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1500" b="1" dirty="0">
                <a:solidFill>
                  <a:srgbClr val="FFB020"/>
                </a:solidFill>
              </a:rPr>
              <a:t>OMS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9A4D20C-D0D9-4F45-8E7E-C79BF52269E6}"/>
              </a:ext>
            </a:extLst>
          </p:cNvPr>
          <p:cNvSpPr/>
          <p:nvPr/>
        </p:nvSpPr>
        <p:spPr>
          <a:xfrm>
            <a:off x="10972800" y="1841500"/>
            <a:ext cx="1016000" cy="698500"/>
          </a:xfrm>
          <a:prstGeom prst="roundRect">
            <a:avLst/>
          </a:prstGeom>
          <a:solidFill>
            <a:srgbClr val="F5F5F7"/>
          </a:solidFill>
          <a:ln w="25400" cap="flat" cmpd="sng" algn="ctr">
            <a:solidFill>
              <a:srgbClr val="7C5CF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fr-FR" sz="1500" b="1" dirty="0">
                <a:solidFill>
                  <a:srgbClr val="7C5CFC"/>
                </a:solidFill>
              </a:rPr>
              <a:t>TMS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89F1794-8D18-4846-A3CA-AFBBCD231173}"/>
              </a:ext>
            </a:extLst>
          </p:cNvPr>
          <p:cNvSpPr txBox="1"/>
          <p:nvPr/>
        </p:nvSpPr>
        <p:spPr>
          <a:xfrm>
            <a:off x="570343" y="3478190"/>
            <a:ext cx="5080000" cy="39116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000" b="1" dirty="0" err="1">
                <a:solidFill>
                  <a:srgbClr val="1A1A2E"/>
                </a:solidFill>
              </a:rPr>
              <a:t>Concretely</a:t>
            </a:r>
            <a:r>
              <a:rPr lang="fr-FR" sz="2000" b="1" dirty="0">
                <a:solidFill>
                  <a:srgbClr val="1A1A2E"/>
                </a:solidFill>
              </a:rPr>
              <a:t>, SERGE…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E7F96F-56B8-3848-A32B-913F30D237DC}"/>
              </a:ext>
            </a:extLst>
          </p:cNvPr>
          <p:cNvSpPr/>
          <p:nvPr/>
        </p:nvSpPr>
        <p:spPr>
          <a:xfrm>
            <a:off x="667325" y="4001430"/>
            <a:ext cx="3365500" cy="55880"/>
          </a:xfrm>
          <a:prstGeom prst="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B255309-5B0B-2542-8D6D-65A588AE3610}"/>
              </a:ext>
            </a:extLst>
          </p:cNvPr>
          <p:cNvSpPr txBox="1"/>
          <p:nvPr/>
        </p:nvSpPr>
        <p:spPr>
          <a:xfrm>
            <a:off x="921325" y="4190660"/>
            <a:ext cx="2857500" cy="36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b="1">
                <a:solidFill>
                  <a:srgbClr val="2D5BFF"/>
                </a:solidFill>
              </a:rPr>
              <a:t>Translates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830214E-6B47-9C43-A855-2DAC6A2112E6}"/>
              </a:ext>
            </a:extLst>
          </p:cNvPr>
          <p:cNvSpPr txBox="1"/>
          <p:nvPr/>
        </p:nvSpPr>
        <p:spPr>
          <a:xfrm>
            <a:off x="921325" y="4505487"/>
            <a:ext cx="2857500" cy="10495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fr-FR" sz="1400" dirty="0">
                <a:solidFill>
                  <a:srgbClr val="4A4A5A"/>
                </a:solidFill>
              </a:rPr>
              <a:t>The agent </a:t>
            </a:r>
            <a:r>
              <a:rPr lang="fr-FR" sz="1400" dirty="0" err="1">
                <a:solidFill>
                  <a:srgbClr val="4A4A5A"/>
                </a:solidFill>
              </a:rPr>
              <a:t>asks</a:t>
            </a:r>
            <a:r>
              <a:rPr lang="fr-FR" sz="1400" dirty="0">
                <a:solidFill>
                  <a:srgbClr val="4A4A5A"/>
                </a:solidFill>
              </a:rPr>
              <a:t> in </a:t>
            </a:r>
            <a:r>
              <a:rPr lang="fr-FR" sz="1400" dirty="0" err="1">
                <a:solidFill>
                  <a:srgbClr val="4A4A5A"/>
                </a:solidFill>
              </a:rPr>
              <a:t>natural</a:t>
            </a:r>
            <a:r>
              <a:rPr lang="fr-FR" sz="1400" dirty="0">
                <a:solidFill>
                  <a:srgbClr val="4A4A5A"/>
                </a:solidFill>
              </a:rPr>
              <a:t> </a:t>
            </a:r>
            <a:r>
              <a:rPr lang="fr-FR" sz="1400" dirty="0" err="1">
                <a:solidFill>
                  <a:srgbClr val="4A4A5A"/>
                </a:solidFill>
              </a:rPr>
              <a:t>language</a:t>
            </a:r>
            <a:r>
              <a:rPr lang="fr-FR" sz="1400" dirty="0">
                <a:solidFill>
                  <a:srgbClr val="4A4A5A"/>
                </a:solidFill>
              </a:rPr>
              <a:t>.
SERGE </a:t>
            </a:r>
            <a:r>
              <a:rPr lang="fr-FR" sz="1400" dirty="0" err="1">
                <a:solidFill>
                  <a:srgbClr val="4A4A5A"/>
                </a:solidFill>
              </a:rPr>
              <a:t>turns</a:t>
            </a:r>
            <a:r>
              <a:rPr lang="fr-FR" sz="1400" dirty="0">
                <a:solidFill>
                  <a:srgbClr val="4A4A5A"/>
                </a:solidFill>
              </a:rPr>
              <a:t> </a:t>
            </a:r>
            <a:r>
              <a:rPr lang="fr-FR" sz="1400" dirty="0" err="1">
                <a:solidFill>
                  <a:srgbClr val="4A4A5A"/>
                </a:solidFill>
              </a:rPr>
              <a:t>that</a:t>
            </a:r>
            <a:r>
              <a:rPr lang="fr-FR" sz="1400" dirty="0">
                <a:solidFill>
                  <a:srgbClr val="4A4A5A"/>
                </a:solidFill>
              </a:rPr>
              <a:t> </a:t>
            </a:r>
            <a:r>
              <a:rPr lang="fr-FR" sz="1400" dirty="0" err="1">
                <a:solidFill>
                  <a:srgbClr val="4A4A5A"/>
                </a:solidFill>
              </a:rPr>
              <a:t>into</a:t>
            </a:r>
            <a:r>
              <a:rPr lang="fr-FR" sz="1400" dirty="0">
                <a:solidFill>
                  <a:srgbClr val="4A4A5A"/>
                </a:solidFill>
              </a:rPr>
              <a:t> </a:t>
            </a:r>
            <a:r>
              <a:rPr lang="fr-FR" sz="1400" dirty="0" err="1">
                <a:solidFill>
                  <a:srgbClr val="4A4A5A"/>
                </a:solidFill>
              </a:rPr>
              <a:t>structured</a:t>
            </a:r>
            <a:r>
              <a:rPr lang="fr-FR" sz="1400" dirty="0">
                <a:solidFill>
                  <a:srgbClr val="4A4A5A"/>
                </a:solidFill>
              </a:rPr>
              <a:t>
</a:t>
            </a:r>
            <a:r>
              <a:rPr lang="fr-FR" sz="1400" dirty="0" err="1">
                <a:solidFill>
                  <a:srgbClr val="4A4A5A"/>
                </a:solidFill>
              </a:rPr>
              <a:t>tool</a:t>
            </a:r>
            <a:r>
              <a:rPr lang="fr-FR" sz="1400" dirty="0">
                <a:solidFill>
                  <a:srgbClr val="4A4A5A"/>
                </a:solidFill>
              </a:rPr>
              <a:t> calls to the right system.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E0F74C-1D27-7B45-BC28-DEFED6FF0FC2}"/>
              </a:ext>
            </a:extLst>
          </p:cNvPr>
          <p:cNvSpPr/>
          <p:nvPr/>
        </p:nvSpPr>
        <p:spPr>
          <a:xfrm>
            <a:off x="4312225" y="4001430"/>
            <a:ext cx="3365500" cy="55880"/>
          </a:xfrm>
          <a:prstGeom prst="rect">
            <a:avLst/>
          </a:prstGeom>
          <a:solidFill>
            <a:srgbClr val="00C4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080E0E5-DE48-6746-9F81-8A44DCB479A5}"/>
              </a:ext>
            </a:extLst>
          </p:cNvPr>
          <p:cNvSpPr txBox="1"/>
          <p:nvPr/>
        </p:nvSpPr>
        <p:spPr>
          <a:xfrm>
            <a:off x="4566225" y="4190660"/>
            <a:ext cx="2857500" cy="36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b="1">
                <a:solidFill>
                  <a:srgbClr val="00C48C"/>
                </a:solidFill>
              </a:rPr>
              <a:t>Connects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E2C4995-013D-F440-93FF-F440EEFD15BE}"/>
              </a:ext>
            </a:extLst>
          </p:cNvPr>
          <p:cNvSpPr txBox="1"/>
          <p:nvPr/>
        </p:nvSpPr>
        <p:spPr>
          <a:xfrm>
            <a:off x="4566225" y="4576637"/>
            <a:ext cx="3111500" cy="8125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dirty="0">
                <a:solidFill>
                  <a:srgbClr val="4A4A5A"/>
                </a:solidFill>
              </a:rPr>
              <a:t>Wraps all four </a:t>
            </a:r>
            <a:r>
              <a:rPr lang="fr-FR" sz="1400" dirty="0" err="1">
                <a:solidFill>
                  <a:srgbClr val="4A4A5A"/>
                </a:solidFill>
              </a:rPr>
              <a:t>supply</a:t>
            </a:r>
            <a:r>
              <a:rPr lang="fr-FR" sz="1400" dirty="0">
                <a:solidFill>
                  <a:srgbClr val="4A4A5A"/>
                </a:solidFill>
              </a:rPr>
              <a:t> </a:t>
            </a:r>
            <a:r>
              <a:rPr lang="fr-FR" sz="1400" dirty="0" err="1">
                <a:solidFill>
                  <a:srgbClr val="4A4A5A"/>
                </a:solidFill>
              </a:rPr>
              <a:t>chain</a:t>
            </a:r>
            <a:r>
              <a:rPr lang="fr-FR" sz="1400" dirty="0">
                <a:solidFill>
                  <a:srgbClr val="4A4A5A"/>
                </a:solidFill>
              </a:rPr>
              <a:t> </a:t>
            </a:r>
            <a:r>
              <a:rPr lang="fr-FR" sz="1400" dirty="0" err="1">
                <a:solidFill>
                  <a:srgbClr val="4A4A5A"/>
                </a:solidFill>
              </a:rPr>
              <a:t>systems</a:t>
            </a:r>
            <a:r>
              <a:rPr lang="fr-FR" sz="1400" dirty="0">
                <a:solidFill>
                  <a:srgbClr val="4A4A5A"/>
                </a:solidFill>
              </a:rPr>
              <a:t>
</a:t>
            </a:r>
            <a:r>
              <a:rPr lang="fr-FR" sz="1400" dirty="0" err="1">
                <a:solidFill>
                  <a:srgbClr val="4A4A5A"/>
                </a:solidFill>
              </a:rPr>
              <a:t>behind</a:t>
            </a:r>
            <a:r>
              <a:rPr lang="fr-FR" sz="1400" dirty="0">
                <a:solidFill>
                  <a:srgbClr val="4A4A5A"/>
                </a:solidFill>
              </a:rPr>
              <a:t> MCP </a:t>
            </a:r>
            <a:r>
              <a:rPr lang="fr-FR" sz="1400" dirty="0" err="1">
                <a:solidFill>
                  <a:srgbClr val="4A4A5A"/>
                </a:solidFill>
              </a:rPr>
              <a:t>tools</a:t>
            </a:r>
            <a:r>
              <a:rPr lang="fr-FR" sz="1400" dirty="0">
                <a:solidFill>
                  <a:srgbClr val="4A4A5A"/>
                </a:solidFill>
              </a:rPr>
              <a:t>. The agent
</a:t>
            </a:r>
            <a:r>
              <a:rPr lang="fr-FR" sz="1400" dirty="0" err="1">
                <a:solidFill>
                  <a:srgbClr val="4A4A5A"/>
                </a:solidFill>
              </a:rPr>
              <a:t>never</a:t>
            </a:r>
            <a:r>
              <a:rPr lang="fr-FR" sz="1400" dirty="0">
                <a:solidFill>
                  <a:srgbClr val="4A4A5A"/>
                </a:solidFill>
              </a:rPr>
              <a:t> touches </a:t>
            </a:r>
            <a:r>
              <a:rPr lang="fr-FR" sz="1400" dirty="0" err="1">
                <a:solidFill>
                  <a:srgbClr val="4A4A5A"/>
                </a:solidFill>
              </a:rPr>
              <a:t>databases</a:t>
            </a:r>
            <a:r>
              <a:rPr lang="fr-FR" sz="1400" dirty="0">
                <a:solidFill>
                  <a:srgbClr val="4A4A5A"/>
                </a:solidFill>
              </a:rPr>
              <a:t> </a:t>
            </a:r>
            <a:r>
              <a:rPr lang="fr-FR" sz="1400" dirty="0" err="1">
                <a:solidFill>
                  <a:srgbClr val="4A4A5A"/>
                </a:solidFill>
              </a:rPr>
              <a:t>directly</a:t>
            </a:r>
            <a:r>
              <a:rPr lang="fr-FR" sz="1400" dirty="0">
                <a:solidFill>
                  <a:srgbClr val="4A4A5A"/>
                </a:solidFill>
              </a:rPr>
              <a:t>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3A4C9E-BB04-6243-8647-7644745998DE}"/>
              </a:ext>
            </a:extLst>
          </p:cNvPr>
          <p:cNvSpPr/>
          <p:nvPr/>
        </p:nvSpPr>
        <p:spPr>
          <a:xfrm>
            <a:off x="7957125" y="4001430"/>
            <a:ext cx="3365500" cy="55880"/>
          </a:xfrm>
          <a:prstGeom prst="rect">
            <a:avLst/>
          </a:prstGeom>
          <a:solidFill>
            <a:srgbClr val="7C5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47BF32B-04A4-334E-9022-5FF43F297191}"/>
              </a:ext>
            </a:extLst>
          </p:cNvPr>
          <p:cNvSpPr txBox="1"/>
          <p:nvPr/>
        </p:nvSpPr>
        <p:spPr>
          <a:xfrm>
            <a:off x="8211125" y="4190660"/>
            <a:ext cx="2857500" cy="36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b="1">
                <a:solidFill>
                  <a:srgbClr val="7C5CFC"/>
                </a:solidFill>
              </a:rPr>
              <a:t>Protects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0AB29F9-EBA0-6D40-976F-609598C82872}"/>
              </a:ext>
            </a:extLst>
          </p:cNvPr>
          <p:cNvSpPr txBox="1"/>
          <p:nvPr/>
        </p:nvSpPr>
        <p:spPr>
          <a:xfrm>
            <a:off x="8211125" y="4565864"/>
            <a:ext cx="2857500" cy="10495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dirty="0" err="1">
                <a:solidFill>
                  <a:srgbClr val="4A4A5A"/>
                </a:solidFill>
              </a:rPr>
              <a:t>Strictly</a:t>
            </a:r>
            <a:r>
              <a:rPr lang="fr-FR" sz="1400" dirty="0">
                <a:solidFill>
                  <a:srgbClr val="4A4A5A"/>
                </a:solidFill>
              </a:rPr>
              <a:t> </a:t>
            </a:r>
            <a:r>
              <a:rPr lang="fr-FR" sz="1400" dirty="0" err="1">
                <a:solidFill>
                  <a:srgbClr val="4A4A5A"/>
                </a:solidFill>
              </a:rPr>
              <a:t>read-only</a:t>
            </a:r>
            <a:r>
              <a:rPr lang="fr-FR" sz="1400" dirty="0">
                <a:solidFill>
                  <a:srgbClr val="4A4A5A"/>
                </a:solidFill>
              </a:rPr>
              <a:t>. SERGE can </a:t>
            </a:r>
            <a:r>
              <a:rPr lang="fr-FR" sz="1400" dirty="0" err="1">
                <a:solidFill>
                  <a:srgbClr val="4A4A5A"/>
                </a:solidFill>
              </a:rPr>
              <a:t>query</a:t>
            </a:r>
            <a:r>
              <a:rPr lang="fr-FR" sz="1400" dirty="0">
                <a:solidFill>
                  <a:srgbClr val="4A4A5A"/>
                </a:solidFill>
              </a:rPr>
              <a:t>
</a:t>
            </a:r>
            <a:r>
              <a:rPr lang="fr-FR" sz="1400" dirty="0" err="1">
                <a:solidFill>
                  <a:srgbClr val="4A4A5A"/>
                </a:solidFill>
              </a:rPr>
              <a:t>any</a:t>
            </a:r>
            <a:r>
              <a:rPr lang="fr-FR" sz="1400" dirty="0">
                <a:solidFill>
                  <a:srgbClr val="4A4A5A"/>
                </a:solidFill>
              </a:rPr>
              <a:t> system but can </a:t>
            </a:r>
            <a:r>
              <a:rPr lang="fr-FR" sz="1400" dirty="0" err="1">
                <a:solidFill>
                  <a:srgbClr val="4A4A5A"/>
                </a:solidFill>
              </a:rPr>
              <a:t>never</a:t>
            </a:r>
            <a:r>
              <a:rPr lang="fr-FR" sz="1400" dirty="0">
                <a:solidFill>
                  <a:srgbClr val="4A4A5A"/>
                </a:solidFill>
              </a:rPr>
              <a:t> </a:t>
            </a:r>
            <a:r>
              <a:rPr lang="fr-FR" sz="1400" dirty="0" err="1">
                <a:solidFill>
                  <a:srgbClr val="4A4A5A"/>
                </a:solidFill>
              </a:rPr>
              <a:t>modify</a:t>
            </a:r>
            <a:r>
              <a:rPr lang="fr-FR" sz="1400" dirty="0">
                <a:solidFill>
                  <a:srgbClr val="4A4A5A"/>
                </a:solidFill>
              </a:rPr>
              <a:t>,
</a:t>
            </a:r>
            <a:r>
              <a:rPr lang="fr-FR" sz="1400" dirty="0" err="1">
                <a:solidFill>
                  <a:srgbClr val="4A4A5A"/>
                </a:solidFill>
              </a:rPr>
              <a:t>delete</a:t>
            </a:r>
            <a:r>
              <a:rPr lang="fr-FR" sz="1400" dirty="0">
                <a:solidFill>
                  <a:srgbClr val="4A4A5A"/>
                </a:solidFill>
              </a:rPr>
              <a:t>, or </a:t>
            </a:r>
            <a:r>
              <a:rPr lang="fr-FR" sz="1400" dirty="0" err="1">
                <a:solidFill>
                  <a:srgbClr val="4A4A5A"/>
                </a:solidFill>
              </a:rPr>
              <a:t>create</a:t>
            </a:r>
            <a:r>
              <a:rPr lang="fr-FR" sz="1400" dirty="0">
                <a:solidFill>
                  <a:srgbClr val="4A4A5A"/>
                </a:solidFill>
              </a:rPr>
              <a:t> data.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00E2850-BBF6-3D4B-9A45-791883DBD7DB}"/>
              </a:ext>
            </a:extLst>
          </p:cNvPr>
          <p:cNvSpPr txBox="1"/>
          <p:nvPr/>
        </p:nvSpPr>
        <p:spPr>
          <a:xfrm>
            <a:off x="667328" y="58674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 b="1">
                <a:solidFill>
                  <a:srgbClr val="2D5BFF"/>
                </a:solidFill>
              </a:rPr>
              <a:t>Agent-agnostic: swap Claude for GPT, Llama, or any MCP-compatible agent — zero changes to the data layer.</a:t>
            </a:r>
          </a:p>
        </p:txBody>
      </p:sp>
    </p:spTree>
    <p:extLst>
      <p:ext uri="{BB962C8B-B14F-4D97-AF65-F5344CB8AC3E}">
        <p14:creationId xmlns:p14="http://schemas.microsoft.com/office/powerpoint/2010/main" val="1079323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D70919D-8AF6-5F4E-8ECE-C04E0690C324}"/>
              </a:ext>
            </a:extLst>
          </p:cNvPr>
          <p:cNvSpPr txBox="1"/>
          <p:nvPr/>
        </p:nvSpPr>
        <p:spPr>
          <a:xfrm>
            <a:off x="889000" y="4445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200" b="1">
                <a:solidFill>
                  <a:srgbClr val="1A1A2E"/>
                </a:solidFill>
              </a:rPr>
              <a:t>Research Gaps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4B935FC-EF88-BA44-8A44-1475861135E8}"/>
              </a:ext>
            </a:extLst>
          </p:cNvPr>
          <p:cNvSpPr txBox="1"/>
          <p:nvPr/>
        </p:nvSpPr>
        <p:spPr>
          <a:xfrm>
            <a:off x="889000" y="10414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>
                <a:solidFill>
                  <a:srgbClr val="6B6B7B"/>
                </a:solidFill>
              </a:rPr>
              <a:t>From a review of 35+ papers — four gaps identified, SERGE addresses three.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D4FF702-0B39-CC4E-82B7-D303CF88BA17}"/>
              </a:ext>
            </a:extLst>
          </p:cNvPr>
          <p:cNvSpPr/>
          <p:nvPr/>
        </p:nvSpPr>
        <p:spPr>
          <a:xfrm>
            <a:off x="889000" y="2090292"/>
            <a:ext cx="9144000" cy="1016000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75A92CC-5AFD-A745-AE88-C73242AADAC7}"/>
              </a:ext>
            </a:extLst>
          </p:cNvPr>
          <p:cNvSpPr/>
          <p:nvPr/>
        </p:nvSpPr>
        <p:spPr>
          <a:xfrm>
            <a:off x="1117600" y="2369692"/>
            <a:ext cx="457200" cy="4572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6FCE52B-62E9-7F41-8A8B-D6EA44657ACA}"/>
              </a:ext>
            </a:extLst>
          </p:cNvPr>
          <p:cNvSpPr txBox="1"/>
          <p:nvPr/>
        </p:nvSpPr>
        <p:spPr>
          <a:xfrm>
            <a:off x="1778000" y="2268092"/>
            <a:ext cx="673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700" b="1">
                <a:solidFill>
                  <a:srgbClr val="1A1A2E"/>
                </a:solidFill>
              </a:rPr>
              <a:t>No SC agent benchmarks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E7A4325-CB57-094F-8A96-8B92FDC81875}"/>
              </a:ext>
            </a:extLst>
          </p:cNvPr>
          <p:cNvSpPr txBox="1"/>
          <p:nvPr/>
        </p:nvSpPr>
        <p:spPr>
          <a:xfrm>
            <a:off x="1778000" y="2623692"/>
            <a:ext cx="673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6B6B7B"/>
                </a:solidFill>
              </a:rPr>
              <a:t>Existing benchmarks focus on code and web tasks, not supply chain.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FD0A347-CC94-8C43-991B-7E43D16434BD}"/>
              </a:ext>
            </a:extLst>
          </p:cNvPr>
          <p:cNvSpPr/>
          <p:nvPr/>
        </p:nvSpPr>
        <p:spPr>
          <a:xfrm>
            <a:off x="10287000" y="2395092"/>
            <a:ext cx="1397000" cy="406400"/>
          </a:xfrm>
          <a:prstGeom prst="round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8E8E9A"/>
                </a:solidFill>
              </a:rPr>
              <a:t>Future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A5CAB21-D98F-094A-8A9D-B6294A659C14}"/>
              </a:ext>
            </a:extLst>
          </p:cNvPr>
          <p:cNvSpPr/>
          <p:nvPr/>
        </p:nvSpPr>
        <p:spPr>
          <a:xfrm>
            <a:off x="889000" y="3258692"/>
            <a:ext cx="9144000" cy="1016000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BAAF0DA-B5D8-264C-87D7-7A342A798BD1}"/>
              </a:ext>
            </a:extLst>
          </p:cNvPr>
          <p:cNvSpPr/>
          <p:nvPr/>
        </p:nvSpPr>
        <p:spPr>
          <a:xfrm>
            <a:off x="1117600" y="3538092"/>
            <a:ext cx="457200" cy="457200"/>
          </a:xfrm>
          <a:prstGeom prst="ellipse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97C64F3-042D-F04C-8A75-71809BDD29E7}"/>
              </a:ext>
            </a:extLst>
          </p:cNvPr>
          <p:cNvSpPr txBox="1"/>
          <p:nvPr/>
        </p:nvSpPr>
        <p:spPr>
          <a:xfrm>
            <a:off x="1778000" y="3436492"/>
            <a:ext cx="673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700" b="1">
                <a:solidFill>
                  <a:srgbClr val="1A1A2E"/>
                </a:solidFill>
              </a:rPr>
              <a:t>No plug-and-play SC ↔ Agent bridge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A939577-427D-6946-A23D-61773D331262}"/>
              </a:ext>
            </a:extLst>
          </p:cNvPr>
          <p:cNvSpPr txBox="1"/>
          <p:nvPr/>
        </p:nvSpPr>
        <p:spPr>
          <a:xfrm>
            <a:off x="1778000" y="3792092"/>
            <a:ext cx="673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6B6B7B"/>
                </a:solidFill>
              </a:rPr>
              <a:t>Solutions are tightly coupled to specific LLMs. No standard connector.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9B0F7BD-81A1-9A4C-B37F-7C8EEF81020E}"/>
              </a:ext>
            </a:extLst>
          </p:cNvPr>
          <p:cNvSpPr/>
          <p:nvPr/>
        </p:nvSpPr>
        <p:spPr>
          <a:xfrm>
            <a:off x="10287000" y="3563492"/>
            <a:ext cx="1397000" cy="406400"/>
          </a:xfrm>
          <a:prstGeom prst="round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SERGE ✓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1376D3FC-6CCF-EC49-B674-FCD2AB5E4A9B}"/>
              </a:ext>
            </a:extLst>
          </p:cNvPr>
          <p:cNvSpPr/>
          <p:nvPr/>
        </p:nvSpPr>
        <p:spPr>
          <a:xfrm>
            <a:off x="889000" y="4427092"/>
            <a:ext cx="9144000" cy="1016000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40CF1D3-1AD6-994F-A8F7-CC2D33F59F6A}"/>
              </a:ext>
            </a:extLst>
          </p:cNvPr>
          <p:cNvSpPr/>
          <p:nvPr/>
        </p:nvSpPr>
        <p:spPr>
          <a:xfrm>
            <a:off x="1117600" y="4706492"/>
            <a:ext cx="457200" cy="457200"/>
          </a:xfrm>
          <a:prstGeom prst="ellipse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40C926A-EA5B-ED4D-B123-955F4D969310}"/>
              </a:ext>
            </a:extLst>
          </p:cNvPr>
          <p:cNvSpPr txBox="1"/>
          <p:nvPr/>
        </p:nvSpPr>
        <p:spPr>
          <a:xfrm>
            <a:off x="1778000" y="4604892"/>
            <a:ext cx="673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700" b="1">
                <a:solidFill>
                  <a:srgbClr val="1A1A2E"/>
                </a:solidFill>
              </a:rPr>
              <a:t>Read-only diagnostics underexplored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AEC32CC-97EF-0740-9D04-5D2D18ECB3EB}"/>
              </a:ext>
            </a:extLst>
          </p:cNvPr>
          <p:cNvSpPr txBox="1"/>
          <p:nvPr/>
        </p:nvSpPr>
        <p:spPr>
          <a:xfrm>
            <a:off x="1778000" y="4960492"/>
            <a:ext cx="673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6B6B7B"/>
                </a:solidFill>
              </a:rPr>
              <a:t>Most research targets optimization or autonomy, not read-only queries.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B3907396-68F2-B147-B3FD-F15C099F58B6}"/>
              </a:ext>
            </a:extLst>
          </p:cNvPr>
          <p:cNvSpPr/>
          <p:nvPr/>
        </p:nvSpPr>
        <p:spPr>
          <a:xfrm>
            <a:off x="10287000" y="4731892"/>
            <a:ext cx="1397000" cy="406400"/>
          </a:xfrm>
          <a:prstGeom prst="round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SERGE ✓</a:t>
            </a:r>
          </a:p>
        </p:txBody>
      </p:sp>
    </p:spTree>
    <p:extLst>
      <p:ext uri="{BB962C8B-B14F-4D97-AF65-F5344CB8AC3E}">
        <p14:creationId xmlns:p14="http://schemas.microsoft.com/office/powerpoint/2010/main" val="3974686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FDFFA0D-297E-2144-B569-E6115D178782}"/>
              </a:ext>
            </a:extLst>
          </p:cNvPr>
          <p:cNvSpPr txBox="1"/>
          <p:nvPr/>
        </p:nvSpPr>
        <p:spPr>
          <a:xfrm>
            <a:off x="889000" y="4445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200" b="1">
                <a:solidFill>
                  <a:srgbClr val="1A1A2E"/>
                </a:solidFill>
              </a:rPr>
              <a:t>SERGE — What It Does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98848B0-4809-4B4C-9A88-FE1DBFC6233C}"/>
              </a:ext>
            </a:extLst>
          </p:cNvPr>
          <p:cNvSpPr txBox="1"/>
          <p:nvPr/>
        </p:nvSpPr>
        <p:spPr>
          <a:xfrm>
            <a:off x="889000" y="10414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>
                <a:solidFill>
                  <a:srgbClr val="6B6B7B"/>
                </a:solidFill>
              </a:rPr>
              <a:t>A ready-to-use bridge connecting supply chain systems to any AI agent via MCP.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1C46F70-FCF8-3444-A3E1-F89189C3DBA3}"/>
              </a:ext>
            </a:extLst>
          </p:cNvPr>
          <p:cNvSpPr/>
          <p:nvPr/>
        </p:nvSpPr>
        <p:spPr>
          <a:xfrm>
            <a:off x="1644650" y="1651000"/>
            <a:ext cx="457200" cy="457200"/>
          </a:xfrm>
          <a:prstGeom prst="ellipse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CA4C1CC-3856-A947-8354-5438B3B6BB3C}"/>
              </a:ext>
            </a:extLst>
          </p:cNvPr>
          <p:cNvSpPr txBox="1"/>
          <p:nvPr/>
        </p:nvSpPr>
        <p:spPr>
          <a:xfrm>
            <a:off x="889000" y="2209800"/>
            <a:ext cx="1968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1A1A2E"/>
                </a:solidFill>
              </a:rPr>
              <a:t>Connect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764156A-0BFD-374B-90A7-CA95DA98DC28}"/>
              </a:ext>
            </a:extLst>
          </p:cNvPr>
          <p:cNvSpPr txBox="1"/>
          <p:nvPr/>
        </p:nvSpPr>
        <p:spPr>
          <a:xfrm>
            <a:off x="889000" y="2514600"/>
            <a:ext cx="1968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4 SC systems
via MCP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3A6C144-0C01-4B44-AEA0-0341C14321A1}"/>
              </a:ext>
            </a:extLst>
          </p:cNvPr>
          <p:cNvSpPr/>
          <p:nvPr/>
        </p:nvSpPr>
        <p:spPr>
          <a:xfrm>
            <a:off x="3790950" y="1651000"/>
            <a:ext cx="457200" cy="457200"/>
          </a:xfrm>
          <a:prstGeom prst="ellipse">
            <a:avLst/>
          </a:prstGeom>
          <a:solidFill>
            <a:srgbClr val="00C4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4776347-AA12-034D-8278-45AE5D0499FC}"/>
              </a:ext>
            </a:extLst>
          </p:cNvPr>
          <p:cNvSpPr txBox="1"/>
          <p:nvPr/>
        </p:nvSpPr>
        <p:spPr>
          <a:xfrm>
            <a:off x="3035300" y="2209800"/>
            <a:ext cx="1968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1A1A2E"/>
                </a:solidFill>
              </a:rPr>
              <a:t>Retrieve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18BD69E-CBCB-4847-B725-A8708CC557B4}"/>
              </a:ext>
            </a:extLst>
          </p:cNvPr>
          <p:cNvSpPr txBox="1"/>
          <p:nvPr/>
        </p:nvSpPr>
        <p:spPr>
          <a:xfrm>
            <a:off x="3035300" y="2514600"/>
            <a:ext cx="1968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Any system
combination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D28605F-308A-9D44-A750-DA81B12B6EF1}"/>
              </a:ext>
            </a:extLst>
          </p:cNvPr>
          <p:cNvSpPr/>
          <p:nvPr/>
        </p:nvSpPr>
        <p:spPr>
          <a:xfrm>
            <a:off x="5937250" y="1651000"/>
            <a:ext cx="457200" cy="457200"/>
          </a:xfrm>
          <a:prstGeom prst="ellipse">
            <a:avLst/>
          </a:prstGeom>
          <a:solidFill>
            <a:srgbClr val="7C5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5EDAE29-8489-CA42-903C-1E3C5719D938}"/>
              </a:ext>
            </a:extLst>
          </p:cNvPr>
          <p:cNvSpPr txBox="1"/>
          <p:nvPr/>
        </p:nvSpPr>
        <p:spPr>
          <a:xfrm>
            <a:off x="5181600" y="2209800"/>
            <a:ext cx="1968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1A1A2E"/>
                </a:solidFill>
              </a:rPr>
              <a:t>Reason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0450CA0-1446-CE48-AB0C-2ECE3E901557}"/>
              </a:ext>
            </a:extLst>
          </p:cNvPr>
          <p:cNvSpPr txBox="1"/>
          <p:nvPr/>
        </p:nvSpPr>
        <p:spPr>
          <a:xfrm>
            <a:off x="5181600" y="2514600"/>
            <a:ext cx="1968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Cross-system
root cause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4752540-99D2-1043-833E-780A36BA1B86}"/>
              </a:ext>
            </a:extLst>
          </p:cNvPr>
          <p:cNvSpPr/>
          <p:nvPr/>
        </p:nvSpPr>
        <p:spPr>
          <a:xfrm>
            <a:off x="8083550" y="1651000"/>
            <a:ext cx="457200" cy="457200"/>
          </a:xfrm>
          <a:prstGeom prst="ellipse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4019BB6-E8D4-D449-BA0D-6620C540A78D}"/>
              </a:ext>
            </a:extLst>
          </p:cNvPr>
          <p:cNvSpPr txBox="1"/>
          <p:nvPr/>
        </p:nvSpPr>
        <p:spPr>
          <a:xfrm>
            <a:off x="7327900" y="2209800"/>
            <a:ext cx="1968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1A1A2E"/>
                </a:solidFill>
              </a:rPr>
              <a:t>Report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EED73FF-DD03-8848-94DC-CA7DB209C592}"/>
              </a:ext>
            </a:extLst>
          </p:cNvPr>
          <p:cNvSpPr txBox="1"/>
          <p:nvPr/>
        </p:nvSpPr>
        <p:spPr>
          <a:xfrm>
            <a:off x="7327900" y="2514600"/>
            <a:ext cx="1968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Structured
diagnostics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0E75E68-7D8F-0643-B3D8-34C44198A4F3}"/>
              </a:ext>
            </a:extLst>
          </p:cNvPr>
          <p:cNvSpPr/>
          <p:nvPr/>
        </p:nvSpPr>
        <p:spPr>
          <a:xfrm>
            <a:off x="10229850" y="1651000"/>
            <a:ext cx="457200" cy="4572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FBAB83F-BF28-FE42-A413-BE389F12765A}"/>
              </a:ext>
            </a:extLst>
          </p:cNvPr>
          <p:cNvSpPr txBox="1"/>
          <p:nvPr/>
        </p:nvSpPr>
        <p:spPr>
          <a:xfrm>
            <a:off x="9474200" y="2209800"/>
            <a:ext cx="1968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1A1A2E"/>
                </a:solidFill>
              </a:rPr>
              <a:t>Read-Only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39B54F9-558A-AE42-BDCA-5A04451DE4AC}"/>
              </a:ext>
            </a:extLst>
          </p:cNvPr>
          <p:cNvSpPr txBox="1"/>
          <p:nvPr/>
        </p:nvSpPr>
        <p:spPr>
          <a:xfrm>
            <a:off x="9474200" y="2514600"/>
            <a:ext cx="1968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Never writes
to databases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69C51C-9A70-1441-B384-721D249BCB17}"/>
              </a:ext>
            </a:extLst>
          </p:cNvPr>
          <p:cNvSpPr/>
          <p:nvPr/>
        </p:nvSpPr>
        <p:spPr>
          <a:xfrm>
            <a:off x="889000" y="3429000"/>
            <a:ext cx="10414000" cy="12700"/>
          </a:xfrm>
          <a:prstGeom prst="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F1A3321-3E02-FD40-86A3-F2A29C0C0FA1}"/>
              </a:ext>
            </a:extLst>
          </p:cNvPr>
          <p:cNvSpPr txBox="1"/>
          <p:nvPr/>
        </p:nvSpPr>
        <p:spPr>
          <a:xfrm>
            <a:off x="900289" y="3657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00C48C"/>
                </a:solidFill>
              </a:rPr>
              <a:t>In Scope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391EDB2-7C3B-0749-BA6B-B569FB8E35D7}"/>
              </a:ext>
            </a:extLst>
          </p:cNvPr>
          <p:cNvSpPr txBox="1"/>
          <p:nvPr/>
        </p:nvSpPr>
        <p:spPr>
          <a:xfrm>
            <a:off x="889000" y="4013200"/>
            <a:ext cx="5334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✓  Data retrieval via natural language
✓  Cross-system diagnostics (SRM / WMS / OMS / TMS)
✓  Structured report generation with source attribution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AF85A07-AB63-3746-AA86-0D1A75162D22}"/>
              </a:ext>
            </a:extLst>
          </p:cNvPr>
          <p:cNvSpPr txBox="1"/>
          <p:nvPr/>
        </p:nvSpPr>
        <p:spPr>
          <a:xfrm>
            <a:off x="6731000" y="3657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FF6B6B"/>
                </a:solidFill>
              </a:rPr>
              <a:t>Out of Scope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0BF6528-F4CE-7342-9252-672A4B3FADA4}"/>
              </a:ext>
            </a:extLst>
          </p:cNvPr>
          <p:cNvSpPr txBox="1"/>
          <p:nvPr/>
        </p:nvSpPr>
        <p:spPr>
          <a:xfrm>
            <a:off x="6731000" y="4013200"/>
            <a:ext cx="4826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✗  Predictive analytics / forecasting
✗  Autonomous decisions (reorder, reroute)
✗  Write operations to any database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796A48F-E316-0147-A87A-AFC01F4A94C3}"/>
              </a:ext>
            </a:extLst>
          </p:cNvPr>
          <p:cNvSpPr txBox="1"/>
          <p:nvPr/>
        </p:nvSpPr>
        <p:spPr>
          <a:xfrm>
            <a:off x="889000" y="53340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8E8E9A"/>
                </a:solidFill>
              </a:rPr>
              <a:t>Setting: B2B mango distribution company — sources, stores, ships mangoes across all four systems.</a:t>
            </a:r>
          </a:p>
        </p:txBody>
      </p:sp>
    </p:spTree>
    <p:extLst>
      <p:ext uri="{BB962C8B-B14F-4D97-AF65-F5344CB8AC3E}">
        <p14:creationId xmlns:p14="http://schemas.microsoft.com/office/powerpoint/2010/main" val="294765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3CE49A4-06F5-F841-B329-C158AF08261A}"/>
              </a:ext>
            </a:extLst>
          </p:cNvPr>
          <p:cNvSpPr txBox="1"/>
          <p:nvPr/>
        </p:nvSpPr>
        <p:spPr>
          <a:xfrm>
            <a:off x="889000" y="381000"/>
            <a:ext cx="762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200" b="1">
                <a:solidFill>
                  <a:srgbClr val="1A1A2E"/>
                </a:solidFill>
              </a:rPr>
              <a:t>Architecture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F9A52B5-9F3C-B143-B106-D8CC4A5AEACC}"/>
              </a:ext>
            </a:extLst>
          </p:cNvPr>
          <p:cNvSpPr/>
          <p:nvPr/>
        </p:nvSpPr>
        <p:spPr>
          <a:xfrm>
            <a:off x="3048000" y="1079500"/>
            <a:ext cx="6096000" cy="762000"/>
          </a:xfrm>
          <a:prstGeom prst="round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</a:rPr>
              <a:t>AI Agent (Claude Code)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16679F-14CF-2A48-9739-A5343D7186BD}"/>
              </a:ext>
            </a:extLst>
          </p:cNvPr>
          <p:cNvSpPr txBox="1"/>
          <p:nvPr/>
        </p:nvSpPr>
        <p:spPr>
          <a:xfrm>
            <a:off x="3048000" y="1879600"/>
            <a:ext cx="609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8E8E9A"/>
                </a:solidFill>
              </a:rPr>
              <a:t>Natural language → tool calls → structured response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5B55655-8165-1D4E-8697-1F158D829C28}"/>
              </a:ext>
            </a:extLst>
          </p:cNvPr>
          <p:cNvSpPr/>
          <p:nvPr/>
        </p:nvSpPr>
        <p:spPr>
          <a:xfrm>
            <a:off x="3048000" y="2540000"/>
            <a:ext cx="6096000" cy="762000"/>
          </a:xfrm>
          <a:prstGeom prst="roundRect">
            <a:avLst/>
          </a:prstGeom>
          <a:solidFill>
            <a:srgbClr val="F5F5F7"/>
          </a:solidFill>
          <a:ln w="2540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700" b="1" dirty="0">
                <a:solidFill>
                  <a:srgbClr val="1A1A2E"/>
                </a:solidFill>
              </a:rPr>
              <a:t>MCP Layer — </a:t>
            </a:r>
            <a:r>
              <a:rPr lang="fr-FR" sz="1700" b="1" dirty="0" err="1">
                <a:solidFill>
                  <a:srgbClr val="1A1A2E"/>
                </a:solidFill>
              </a:rPr>
              <a:t>read-only</a:t>
            </a:r>
            <a:r>
              <a:rPr lang="fr-FR" sz="1700" b="1" dirty="0">
                <a:solidFill>
                  <a:srgbClr val="1A1A2E"/>
                </a:solidFill>
              </a:rPr>
              <a:t> </a:t>
            </a:r>
            <a:r>
              <a:rPr lang="fr-FR" sz="1700" b="1" dirty="0" err="1">
                <a:solidFill>
                  <a:srgbClr val="1A1A2E"/>
                </a:solidFill>
              </a:rPr>
              <a:t>tools</a:t>
            </a:r>
            <a:endParaRPr lang="fr-FR" sz="1700" b="1" dirty="0">
              <a:solidFill>
                <a:srgbClr val="1A1A2E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E28F902-415F-E840-9C63-CE1BD7BDA31E}"/>
              </a:ext>
            </a:extLst>
          </p:cNvPr>
          <p:cNvSpPr txBox="1"/>
          <p:nvPr/>
        </p:nvSpPr>
        <p:spPr>
          <a:xfrm>
            <a:off x="3048000" y="3340100"/>
            <a:ext cx="609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dirty="0">
                <a:solidFill>
                  <a:srgbClr val="8E8E9A"/>
                </a:solidFill>
              </a:rPr>
              <a:t>JSON-RPC 2.0  •  </a:t>
            </a:r>
            <a:r>
              <a:rPr lang="fr-FR" sz="1400" dirty="0" err="1">
                <a:solidFill>
                  <a:srgbClr val="8E8E9A"/>
                </a:solidFill>
              </a:rPr>
              <a:t>trpc</a:t>
            </a:r>
            <a:r>
              <a:rPr lang="fr-FR" sz="1400" dirty="0">
                <a:solidFill>
                  <a:srgbClr val="8E8E9A"/>
                </a:solidFill>
              </a:rPr>
              <a:t>-</a:t>
            </a:r>
            <a:r>
              <a:rPr lang="fr-FR" sz="1400" dirty="0" err="1">
                <a:solidFill>
                  <a:srgbClr val="8E8E9A"/>
                </a:solidFill>
              </a:rPr>
              <a:t>mcp</a:t>
            </a:r>
            <a:r>
              <a:rPr lang="fr-FR" sz="1400" dirty="0">
                <a:solidFill>
                  <a:srgbClr val="8E8E9A"/>
                </a:solidFill>
              </a:rPr>
              <a:t>-go  •  Agent-</a:t>
            </a:r>
            <a:r>
              <a:rPr lang="fr-FR" sz="1400" dirty="0" err="1">
                <a:solidFill>
                  <a:srgbClr val="8E8E9A"/>
                </a:solidFill>
              </a:rPr>
              <a:t>agnostic</a:t>
            </a:r>
            <a:endParaRPr lang="fr-FR" sz="1400" dirty="0">
              <a:solidFill>
                <a:srgbClr val="8E8E9A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FBA1AA-ED06-704E-A193-0E1B1EAE27F0}"/>
              </a:ext>
            </a:extLst>
          </p:cNvPr>
          <p:cNvSpPr/>
          <p:nvPr/>
        </p:nvSpPr>
        <p:spPr>
          <a:xfrm>
            <a:off x="1270000" y="4127500"/>
            <a:ext cx="2286000" cy="63500"/>
          </a:xfrm>
          <a:prstGeom prst="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D4AC530-097B-3542-B0AB-BEBE251133E9}"/>
              </a:ext>
            </a:extLst>
          </p:cNvPr>
          <p:cNvSpPr txBox="1"/>
          <p:nvPr/>
        </p:nvSpPr>
        <p:spPr>
          <a:xfrm>
            <a:off x="1270000" y="43434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000" b="1">
                <a:solidFill>
                  <a:srgbClr val="2D5BFF"/>
                </a:solidFill>
              </a:rPr>
              <a:t>SRM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F11ABF2-38C4-4D49-8118-F6E464F1859A}"/>
              </a:ext>
            </a:extLst>
          </p:cNvPr>
          <p:cNvSpPr txBox="1"/>
          <p:nvPr/>
        </p:nvSpPr>
        <p:spPr>
          <a:xfrm>
            <a:off x="1397000" y="47498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Suppliers
Purchase Orders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83F172-7F8B-5148-A910-86E71979CB71}"/>
              </a:ext>
            </a:extLst>
          </p:cNvPr>
          <p:cNvSpPr/>
          <p:nvPr/>
        </p:nvSpPr>
        <p:spPr>
          <a:xfrm>
            <a:off x="3860800" y="4127500"/>
            <a:ext cx="2286000" cy="63500"/>
          </a:xfrm>
          <a:prstGeom prst="rect">
            <a:avLst/>
          </a:prstGeom>
          <a:solidFill>
            <a:srgbClr val="00C4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AC117FA-9E3E-4047-B1D5-7A70CD05BCFF}"/>
              </a:ext>
            </a:extLst>
          </p:cNvPr>
          <p:cNvSpPr txBox="1"/>
          <p:nvPr/>
        </p:nvSpPr>
        <p:spPr>
          <a:xfrm>
            <a:off x="3860800" y="43434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000" b="1">
                <a:solidFill>
                  <a:srgbClr val="00C48C"/>
                </a:solidFill>
              </a:rPr>
              <a:t>WMS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D46848F-E18C-7D46-9A07-E69B5CBFA85F}"/>
              </a:ext>
            </a:extLst>
          </p:cNvPr>
          <p:cNvSpPr txBox="1"/>
          <p:nvPr/>
        </p:nvSpPr>
        <p:spPr>
          <a:xfrm>
            <a:off x="3987800" y="47498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Inventory
Stock Movements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21C370-2678-DA42-82CF-FEDAF9177A37}"/>
              </a:ext>
            </a:extLst>
          </p:cNvPr>
          <p:cNvSpPr/>
          <p:nvPr/>
        </p:nvSpPr>
        <p:spPr>
          <a:xfrm>
            <a:off x="6451600" y="4127500"/>
            <a:ext cx="2286000" cy="635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286CD2A-B8B2-2444-9D67-EAB1FBC69EB1}"/>
              </a:ext>
            </a:extLst>
          </p:cNvPr>
          <p:cNvSpPr txBox="1"/>
          <p:nvPr/>
        </p:nvSpPr>
        <p:spPr>
          <a:xfrm>
            <a:off x="6451600" y="43434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000" b="1">
                <a:solidFill>
                  <a:srgbClr val="FFB020"/>
                </a:solidFill>
              </a:rPr>
              <a:t>OMS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678651C-3858-3C4A-95D0-0A9709DC6443}"/>
              </a:ext>
            </a:extLst>
          </p:cNvPr>
          <p:cNvSpPr txBox="1"/>
          <p:nvPr/>
        </p:nvSpPr>
        <p:spPr>
          <a:xfrm>
            <a:off x="6578600" y="47498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Orders
Fulfillment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3B05A0-EDE6-384C-B575-D1DBF52C560D}"/>
              </a:ext>
            </a:extLst>
          </p:cNvPr>
          <p:cNvSpPr/>
          <p:nvPr/>
        </p:nvSpPr>
        <p:spPr>
          <a:xfrm>
            <a:off x="9042400" y="4127500"/>
            <a:ext cx="2286000" cy="63500"/>
          </a:xfrm>
          <a:prstGeom prst="rect">
            <a:avLst/>
          </a:prstGeom>
          <a:solidFill>
            <a:srgbClr val="7C5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58D3894-D241-6E45-B606-7E4740012E02}"/>
              </a:ext>
            </a:extLst>
          </p:cNvPr>
          <p:cNvSpPr txBox="1"/>
          <p:nvPr/>
        </p:nvSpPr>
        <p:spPr>
          <a:xfrm>
            <a:off x="9042400" y="43434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000" b="1">
                <a:solidFill>
                  <a:srgbClr val="7C5CFC"/>
                </a:solidFill>
              </a:rPr>
              <a:t>TMS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45C9C55-C3A4-3D42-81CE-056B046F76E9}"/>
              </a:ext>
            </a:extLst>
          </p:cNvPr>
          <p:cNvSpPr txBox="1"/>
          <p:nvPr/>
        </p:nvSpPr>
        <p:spPr>
          <a:xfrm>
            <a:off x="9169400" y="47498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Shipments
Tracking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A6E79BAF-C812-0C4D-A6F2-995C034E1B31}"/>
              </a:ext>
            </a:extLst>
          </p:cNvPr>
          <p:cNvSpPr/>
          <p:nvPr/>
        </p:nvSpPr>
        <p:spPr>
          <a:xfrm>
            <a:off x="9652000" y="1079500"/>
            <a:ext cx="2095500" cy="2222500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2D8EED3-53CC-0D45-892D-7AC231CE43D2}"/>
              </a:ext>
            </a:extLst>
          </p:cNvPr>
          <p:cNvSpPr txBox="1"/>
          <p:nvPr/>
        </p:nvSpPr>
        <p:spPr>
          <a:xfrm>
            <a:off x="9779000" y="1206500"/>
            <a:ext cx="196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7C5CFC"/>
                </a:solidFill>
              </a:rPr>
              <a:t>Evaluation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7C76B1D-087B-5146-90F8-5BF3EFCFCCC7}"/>
              </a:ext>
            </a:extLst>
          </p:cNvPr>
          <p:cNvSpPr txBox="1"/>
          <p:nvPr/>
        </p:nvSpPr>
        <p:spPr>
          <a:xfrm>
            <a:off x="9779000" y="1587500"/>
            <a:ext cx="19685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dirty="0">
                <a:solidFill>
                  <a:srgbClr val="6B6B7B"/>
                </a:solidFill>
              </a:rPr>
              <a:t>LLM-as-Judge
15 scenarios
45 runs
Ground </a:t>
            </a:r>
            <a:r>
              <a:rPr lang="fr-FR" sz="1400" dirty="0" err="1">
                <a:solidFill>
                  <a:srgbClr val="6B6B7B"/>
                </a:solidFill>
              </a:rPr>
              <a:t>truth</a:t>
            </a:r>
            <a:endParaRPr lang="fr-FR" sz="1400" dirty="0">
              <a:solidFill>
                <a:srgbClr val="6B6B7B"/>
              </a:solidFill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864BB9F4-B190-D249-9FD5-B49AE5956B42}"/>
              </a:ext>
            </a:extLst>
          </p:cNvPr>
          <p:cNvSpPr txBox="1"/>
          <p:nvPr/>
        </p:nvSpPr>
        <p:spPr>
          <a:xfrm>
            <a:off x="889000" y="59436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ABABAB"/>
                </a:solidFill>
              </a:rPr>
              <a:t>All four Go services live in a single monorepo with clean three-layer architecture: structs → repositories → controllers</a:t>
            </a:r>
          </a:p>
        </p:txBody>
      </p:sp>
    </p:spTree>
    <p:extLst>
      <p:ext uri="{BB962C8B-B14F-4D97-AF65-F5344CB8AC3E}">
        <p14:creationId xmlns:p14="http://schemas.microsoft.com/office/powerpoint/2010/main" val="2929897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024005F-E365-AE4E-8B08-96B027E2FF22}"/>
              </a:ext>
            </a:extLst>
          </p:cNvPr>
          <p:cNvSpPr txBox="1"/>
          <p:nvPr/>
        </p:nvSpPr>
        <p:spPr>
          <a:xfrm>
            <a:off x="889000" y="410633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200" b="1">
                <a:solidFill>
                  <a:srgbClr val="1A1A2E"/>
                </a:solidFill>
              </a:rPr>
              <a:t>Three Use Cases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62A4930-858B-4642-A09A-3DAC78C53957}"/>
              </a:ext>
            </a:extLst>
          </p:cNvPr>
          <p:cNvSpPr/>
          <p:nvPr/>
        </p:nvSpPr>
        <p:spPr>
          <a:xfrm>
            <a:off x="889000" y="1333500"/>
            <a:ext cx="3429000" cy="3601027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DAB1526-DC13-254A-866B-33B5942237A0}"/>
              </a:ext>
            </a:extLst>
          </p:cNvPr>
          <p:cNvSpPr txBox="1"/>
          <p:nvPr/>
        </p:nvSpPr>
        <p:spPr>
          <a:xfrm>
            <a:off x="1143000" y="1498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b="1">
                <a:solidFill>
                  <a:srgbClr val="2D5BFF"/>
                </a:solidFill>
              </a:rPr>
              <a:t>UC-1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529255-568C-CA46-B67E-99BC01E95806}"/>
              </a:ext>
            </a:extLst>
          </p:cNvPr>
          <p:cNvSpPr txBox="1"/>
          <p:nvPr/>
        </p:nvSpPr>
        <p:spPr>
          <a:xfrm>
            <a:off x="3365500" y="14859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dirty="0">
                <a:solidFill>
                  <a:srgbClr val="8E8E9A"/>
                </a:solidFill>
              </a:rPr>
              <a:t>Low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A104367-943C-E243-A2F6-D042620DB996}"/>
              </a:ext>
            </a:extLst>
          </p:cNvPr>
          <p:cNvSpPr txBox="1"/>
          <p:nvPr/>
        </p:nvSpPr>
        <p:spPr>
          <a:xfrm>
            <a:off x="1143000" y="1905000"/>
            <a:ext cx="2921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 dirty="0" err="1">
                <a:solidFill>
                  <a:srgbClr val="1A1A2E"/>
                </a:solidFill>
              </a:rPr>
              <a:t>Order</a:t>
            </a:r>
            <a:r>
              <a:rPr lang="fr-FR" sz="1600" b="1" dirty="0">
                <a:solidFill>
                  <a:srgbClr val="1A1A2E"/>
                </a:solidFill>
              </a:rPr>
              <a:t> </a:t>
            </a:r>
            <a:r>
              <a:rPr lang="fr-FR" sz="1600" b="1" dirty="0" err="1">
                <a:solidFill>
                  <a:srgbClr val="1A1A2E"/>
                </a:solidFill>
              </a:rPr>
              <a:t>Status</a:t>
            </a:r>
            <a:r>
              <a:rPr lang="fr-FR" sz="1600" b="1" dirty="0">
                <a:solidFill>
                  <a:srgbClr val="1A1A2E"/>
                </a:solidFill>
              </a:rPr>
              <a:t> </a:t>
            </a:r>
            <a:r>
              <a:rPr lang="fr-FR" sz="1600" b="1" dirty="0" err="1">
                <a:solidFill>
                  <a:srgbClr val="1A1A2E"/>
                </a:solidFill>
              </a:rPr>
              <a:t>Inquiry</a:t>
            </a:r>
            <a:endParaRPr lang="fr-FR" sz="1600" b="1" dirty="0">
              <a:solidFill>
                <a:srgbClr val="1A1A2E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605D618-D02E-CE4D-9B1E-7EE0A7BBDF85}"/>
              </a:ext>
            </a:extLst>
          </p:cNvPr>
          <p:cNvSpPr txBox="1"/>
          <p:nvPr/>
        </p:nvSpPr>
        <p:spPr>
          <a:xfrm>
            <a:off x="1143000" y="23368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2D5BFF"/>
                </a:solidFill>
              </a:rPr>
              <a:t>Systems: OMS + TMS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7A5E98-992B-9046-A4DC-23E061A74AFD}"/>
              </a:ext>
            </a:extLst>
          </p:cNvPr>
          <p:cNvSpPr/>
          <p:nvPr/>
        </p:nvSpPr>
        <p:spPr>
          <a:xfrm>
            <a:off x="1143000" y="2768600"/>
            <a:ext cx="2921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F7C8FD7-F2E0-1248-A7C5-2F8EC59DCACC}"/>
              </a:ext>
            </a:extLst>
          </p:cNvPr>
          <p:cNvSpPr txBox="1"/>
          <p:nvPr/>
        </p:nvSpPr>
        <p:spPr>
          <a:xfrm>
            <a:off x="1143000" y="29210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Basic retrieval and data merging from 2 systems.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1E16CE0-3126-AE45-8942-CCEE58967110}"/>
              </a:ext>
            </a:extLst>
          </p:cNvPr>
          <p:cNvSpPr/>
          <p:nvPr/>
        </p:nvSpPr>
        <p:spPr>
          <a:xfrm>
            <a:off x="1079500" y="3937000"/>
            <a:ext cx="3048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F4D6F1C-7080-CC43-96BB-42864EC13739}"/>
              </a:ext>
            </a:extLst>
          </p:cNvPr>
          <p:cNvSpPr txBox="1"/>
          <p:nvPr/>
        </p:nvSpPr>
        <p:spPr>
          <a:xfrm>
            <a:off x="1206500" y="4089400"/>
            <a:ext cx="279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i="1">
                <a:solidFill>
                  <a:srgbClr val="6B6B7B"/>
                </a:solidFill>
              </a:rPr>
              <a:t>"What is the status of order #1234?"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C277289-5795-1145-9214-123A55F171EB}"/>
              </a:ext>
            </a:extLst>
          </p:cNvPr>
          <p:cNvSpPr/>
          <p:nvPr/>
        </p:nvSpPr>
        <p:spPr>
          <a:xfrm>
            <a:off x="4572000" y="1333500"/>
            <a:ext cx="3429000" cy="3601027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F62223B-88D0-4140-9D84-EF003A87CF8A}"/>
              </a:ext>
            </a:extLst>
          </p:cNvPr>
          <p:cNvSpPr txBox="1"/>
          <p:nvPr/>
        </p:nvSpPr>
        <p:spPr>
          <a:xfrm>
            <a:off x="4826000" y="1498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b="1">
                <a:solidFill>
                  <a:srgbClr val="7C5CFC"/>
                </a:solidFill>
              </a:rPr>
              <a:t>UC-2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845A956-8F8F-A447-9DBE-672FF7DF6DC7}"/>
              </a:ext>
            </a:extLst>
          </p:cNvPr>
          <p:cNvSpPr txBox="1"/>
          <p:nvPr/>
        </p:nvSpPr>
        <p:spPr>
          <a:xfrm>
            <a:off x="6731000" y="1498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8E8E9A"/>
                </a:solidFill>
              </a:rPr>
              <a:t>Medium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99EB1F3-D0B7-5645-B183-4C7E549BD480}"/>
              </a:ext>
            </a:extLst>
          </p:cNvPr>
          <p:cNvSpPr txBox="1"/>
          <p:nvPr/>
        </p:nvSpPr>
        <p:spPr>
          <a:xfrm>
            <a:off x="4826000" y="1905000"/>
            <a:ext cx="2921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 dirty="0" err="1">
                <a:solidFill>
                  <a:srgbClr val="1A1A2E"/>
                </a:solidFill>
              </a:rPr>
              <a:t>Delayed</a:t>
            </a:r>
            <a:r>
              <a:rPr lang="fr-FR" sz="1600" b="1" dirty="0">
                <a:solidFill>
                  <a:srgbClr val="1A1A2E"/>
                </a:solidFill>
              </a:rPr>
              <a:t> </a:t>
            </a:r>
            <a:r>
              <a:rPr lang="fr-FR" sz="1600" b="1" dirty="0" err="1">
                <a:solidFill>
                  <a:srgbClr val="1A1A2E"/>
                </a:solidFill>
              </a:rPr>
              <a:t>Order</a:t>
            </a:r>
            <a:r>
              <a:rPr lang="fr-FR" sz="1600" b="1" dirty="0">
                <a:solidFill>
                  <a:srgbClr val="1A1A2E"/>
                </a:solidFill>
              </a:rPr>
              <a:t> Root Cause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FA89041-8AB7-8D4E-B923-2BA1801502E3}"/>
              </a:ext>
            </a:extLst>
          </p:cNvPr>
          <p:cNvSpPr txBox="1"/>
          <p:nvPr/>
        </p:nvSpPr>
        <p:spPr>
          <a:xfrm>
            <a:off x="4826000" y="23368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7C5CFC"/>
                </a:solidFill>
              </a:rPr>
              <a:t>Systems: All 4 systems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E04690-72FD-6849-B1D0-917B4EF9D72B}"/>
              </a:ext>
            </a:extLst>
          </p:cNvPr>
          <p:cNvSpPr/>
          <p:nvPr/>
        </p:nvSpPr>
        <p:spPr>
          <a:xfrm>
            <a:off x="4826000" y="2768600"/>
            <a:ext cx="2921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08D6D9C-A062-4A4D-8C99-8D14096FA001}"/>
              </a:ext>
            </a:extLst>
          </p:cNvPr>
          <p:cNvSpPr txBox="1"/>
          <p:nvPr/>
        </p:nvSpPr>
        <p:spPr>
          <a:xfrm>
            <a:off x="4826000" y="29210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Cross-system causal chain reasoning — the core value.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CE3734F-58B1-7744-B640-3CB14B0BA089}"/>
              </a:ext>
            </a:extLst>
          </p:cNvPr>
          <p:cNvSpPr/>
          <p:nvPr/>
        </p:nvSpPr>
        <p:spPr>
          <a:xfrm>
            <a:off x="4762500" y="3937000"/>
            <a:ext cx="3048000" cy="762000"/>
          </a:xfrm>
          <a:prstGeom prst="roundRect">
            <a:avLst>
              <a:gd name="adj" fmla="val 45758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15EDDCF-8948-2746-B260-E26CF8662F97}"/>
              </a:ext>
            </a:extLst>
          </p:cNvPr>
          <p:cNvSpPr txBox="1"/>
          <p:nvPr/>
        </p:nvSpPr>
        <p:spPr>
          <a:xfrm>
            <a:off x="4889500" y="4089400"/>
            <a:ext cx="279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i="1">
                <a:solidFill>
                  <a:srgbClr val="6B6B7B"/>
                </a:solidFill>
              </a:rPr>
              <a:t>"Why is order #1234 delayed?"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B9638C5-8975-FB45-B3E8-AAAED74F3517}"/>
              </a:ext>
            </a:extLst>
          </p:cNvPr>
          <p:cNvSpPr/>
          <p:nvPr/>
        </p:nvSpPr>
        <p:spPr>
          <a:xfrm>
            <a:off x="8255000" y="1333500"/>
            <a:ext cx="3429000" cy="3601027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B059C50-13F5-4949-A255-8A133233D183}"/>
              </a:ext>
            </a:extLst>
          </p:cNvPr>
          <p:cNvSpPr txBox="1"/>
          <p:nvPr/>
        </p:nvSpPr>
        <p:spPr>
          <a:xfrm>
            <a:off x="8509000" y="1498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b="1">
                <a:solidFill>
                  <a:srgbClr val="00C48C"/>
                </a:solidFill>
              </a:rPr>
              <a:t>UC-3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3BAA9A9-C8C7-9D4E-B0FD-3F2C6D6602FD}"/>
              </a:ext>
            </a:extLst>
          </p:cNvPr>
          <p:cNvSpPr txBox="1"/>
          <p:nvPr/>
        </p:nvSpPr>
        <p:spPr>
          <a:xfrm>
            <a:off x="10414000" y="1498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8E8E9A"/>
                </a:solidFill>
              </a:rPr>
              <a:t>Low-Med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4BE57AD-D068-4347-8CC9-26BA03291D8A}"/>
              </a:ext>
            </a:extLst>
          </p:cNvPr>
          <p:cNvSpPr txBox="1"/>
          <p:nvPr/>
        </p:nvSpPr>
        <p:spPr>
          <a:xfrm>
            <a:off x="8509000" y="1905000"/>
            <a:ext cx="2921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 dirty="0">
                <a:solidFill>
                  <a:srgbClr val="1A1A2E"/>
                </a:solidFill>
              </a:rPr>
              <a:t>Supplier Performance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1D577B6-21CD-2640-AA8B-1F64AA20199A}"/>
              </a:ext>
            </a:extLst>
          </p:cNvPr>
          <p:cNvSpPr txBox="1"/>
          <p:nvPr/>
        </p:nvSpPr>
        <p:spPr>
          <a:xfrm>
            <a:off x="8509000" y="23368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00C48C"/>
                </a:solidFill>
              </a:rPr>
              <a:t>Systems: SRM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297D84-4D0E-4D43-A0D2-B54C60DFDDB3}"/>
              </a:ext>
            </a:extLst>
          </p:cNvPr>
          <p:cNvSpPr/>
          <p:nvPr/>
        </p:nvSpPr>
        <p:spPr>
          <a:xfrm>
            <a:off x="8509000" y="2768600"/>
            <a:ext cx="29210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B924BE4-ADFA-7F44-9C5C-44001D400A26}"/>
              </a:ext>
            </a:extLst>
          </p:cNvPr>
          <p:cNvSpPr txBox="1"/>
          <p:nvPr/>
        </p:nvSpPr>
        <p:spPr>
          <a:xfrm>
            <a:off x="8509000" y="29210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Structured data extraction and comparison report.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4F0068AB-99E9-374A-BB23-77BDFCFDB28C}"/>
              </a:ext>
            </a:extLst>
          </p:cNvPr>
          <p:cNvSpPr/>
          <p:nvPr/>
        </p:nvSpPr>
        <p:spPr>
          <a:xfrm>
            <a:off x="8445500" y="3937000"/>
            <a:ext cx="3048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A0D6355D-D24F-1343-95FF-2C700EF29AC8}"/>
              </a:ext>
            </a:extLst>
          </p:cNvPr>
          <p:cNvSpPr txBox="1"/>
          <p:nvPr/>
        </p:nvSpPr>
        <p:spPr>
          <a:xfrm>
            <a:off x="8572500" y="4089400"/>
            <a:ext cx="279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i="1" dirty="0">
                <a:solidFill>
                  <a:srgbClr val="6B6B7B"/>
                </a:solidFill>
              </a:rPr>
              <a:t>"Compare </a:t>
            </a:r>
            <a:r>
              <a:rPr lang="fr-FR" sz="1400" i="1" dirty="0" err="1">
                <a:solidFill>
                  <a:srgbClr val="6B6B7B"/>
                </a:solidFill>
              </a:rPr>
              <a:t>mango</a:t>
            </a:r>
            <a:r>
              <a:rPr lang="fr-FR" sz="1400" i="1" dirty="0">
                <a:solidFill>
                  <a:srgbClr val="6B6B7B"/>
                </a:solidFill>
              </a:rPr>
              <a:t> </a:t>
            </a:r>
            <a:r>
              <a:rPr lang="fr-FR" sz="1400" i="1" dirty="0" err="1">
                <a:solidFill>
                  <a:srgbClr val="6B6B7B"/>
                </a:solidFill>
              </a:rPr>
              <a:t>suppliers</a:t>
            </a:r>
            <a:r>
              <a:rPr lang="fr-FR" sz="1400" i="1" dirty="0">
                <a:solidFill>
                  <a:srgbClr val="6B6B7B"/>
                </a:solidFill>
              </a:rPr>
              <a:t> by on-time rate"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C2FB51F4-0CAB-2D4A-A7A0-93808059B19A}"/>
              </a:ext>
            </a:extLst>
          </p:cNvPr>
          <p:cNvSpPr txBox="1"/>
          <p:nvPr/>
        </p:nvSpPr>
        <p:spPr>
          <a:xfrm>
            <a:off x="889000" y="55880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 b="1">
                <a:solidFill>
                  <a:srgbClr val="7C5CFC"/>
                </a:solidFill>
              </a:rPr>
              <a:t>UC-2 is the core value: cross-system reasoning that justifies an agent over a simple chatbot.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FF57C82-6746-9F4F-8737-6342D45A9D9C}"/>
              </a:ext>
            </a:extLst>
          </p:cNvPr>
          <p:cNvSpPr txBox="1"/>
          <p:nvPr/>
        </p:nvSpPr>
        <p:spPr>
          <a:xfrm>
            <a:off x="889000" y="59690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dirty="0">
                <a:solidFill>
                  <a:srgbClr val="ABABAB"/>
                </a:solidFill>
              </a:rPr>
              <a:t>5 scenarios per use case = 15 total  •  3 runs </a:t>
            </a:r>
            <a:r>
              <a:rPr lang="fr-FR" sz="1400" dirty="0" err="1">
                <a:solidFill>
                  <a:srgbClr val="ABABAB"/>
                </a:solidFill>
              </a:rPr>
              <a:t>each</a:t>
            </a:r>
            <a:r>
              <a:rPr lang="fr-FR" sz="1400" dirty="0">
                <a:solidFill>
                  <a:srgbClr val="ABABAB"/>
                </a:solidFill>
              </a:rPr>
              <a:t> = 45 </a:t>
            </a:r>
            <a:r>
              <a:rPr lang="fr-FR" sz="1400" dirty="0" err="1">
                <a:solidFill>
                  <a:srgbClr val="ABABAB"/>
                </a:solidFill>
              </a:rPr>
              <a:t>evaluation</a:t>
            </a:r>
            <a:r>
              <a:rPr lang="fr-FR" sz="1400" dirty="0">
                <a:solidFill>
                  <a:srgbClr val="ABABAB"/>
                </a:solidFill>
              </a:rPr>
              <a:t> runs</a:t>
            </a:r>
          </a:p>
        </p:txBody>
      </p:sp>
    </p:spTree>
    <p:extLst>
      <p:ext uri="{BB962C8B-B14F-4D97-AF65-F5344CB8AC3E}">
        <p14:creationId xmlns:p14="http://schemas.microsoft.com/office/powerpoint/2010/main" val="257602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304A351-7839-0149-88D5-8FFE4BE5934C}"/>
              </a:ext>
            </a:extLst>
          </p:cNvPr>
          <p:cNvSpPr txBox="1"/>
          <p:nvPr/>
        </p:nvSpPr>
        <p:spPr>
          <a:xfrm>
            <a:off x="889000" y="4445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200" b="1">
                <a:solidFill>
                  <a:srgbClr val="1A1A2E"/>
                </a:solidFill>
              </a:rPr>
              <a:t>Evaluation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2D1CB68-A9A3-5448-8D09-7B29FE98DE18}"/>
              </a:ext>
            </a:extLst>
          </p:cNvPr>
          <p:cNvSpPr txBox="1"/>
          <p:nvPr/>
        </p:nvSpPr>
        <p:spPr>
          <a:xfrm>
            <a:off x="889000" y="10414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>
                <a:solidFill>
                  <a:srgbClr val="6B6B7B"/>
                </a:solidFill>
              </a:rPr>
              <a:t>LLM-as-Judge pipeline with predefined ground truth.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D82D6A8-B653-D04F-BAFE-B767E6DD304C}"/>
              </a:ext>
            </a:extLst>
          </p:cNvPr>
          <p:cNvSpPr/>
          <p:nvPr/>
        </p:nvSpPr>
        <p:spPr>
          <a:xfrm>
            <a:off x="1270000" y="1587500"/>
            <a:ext cx="2794000" cy="1460500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6602825-22BE-9E49-B4C3-E0B4D5154F3C}"/>
              </a:ext>
            </a:extLst>
          </p:cNvPr>
          <p:cNvSpPr/>
          <p:nvPr/>
        </p:nvSpPr>
        <p:spPr>
          <a:xfrm>
            <a:off x="1460500" y="1778000"/>
            <a:ext cx="381000" cy="381000"/>
          </a:xfrm>
          <a:prstGeom prst="ellipse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1169B5-5161-4144-B452-5581DA6E2CCC}"/>
              </a:ext>
            </a:extLst>
          </p:cNvPr>
          <p:cNvSpPr txBox="1"/>
          <p:nvPr/>
        </p:nvSpPr>
        <p:spPr>
          <a:xfrm>
            <a:off x="1968500" y="17780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700" b="1">
                <a:solidFill>
                  <a:srgbClr val="1A1A2E"/>
                </a:solidFill>
              </a:rPr>
              <a:t>Ground Truth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A3F48E8-DDA5-4046-B408-DCB7AE7A4044}"/>
              </a:ext>
            </a:extLst>
          </p:cNvPr>
          <p:cNvSpPr txBox="1"/>
          <p:nvPr/>
        </p:nvSpPr>
        <p:spPr>
          <a:xfrm>
            <a:off x="1968500" y="2159000"/>
            <a:ext cx="190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Correct answers
predefined from
seeded data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F9645FA-FE73-BF4F-AA1F-65B5FABF692F}"/>
              </a:ext>
            </a:extLst>
          </p:cNvPr>
          <p:cNvSpPr txBox="1"/>
          <p:nvPr/>
        </p:nvSpPr>
        <p:spPr>
          <a:xfrm>
            <a:off x="4216400" y="20955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400">
                <a:solidFill>
                  <a:srgbClr val="BFBFBF"/>
                </a:solidFill>
              </a:rPr>
              <a:t>→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EF0E9C0-67D8-304F-B3C7-C151877AB615}"/>
              </a:ext>
            </a:extLst>
          </p:cNvPr>
          <p:cNvSpPr/>
          <p:nvPr/>
        </p:nvSpPr>
        <p:spPr>
          <a:xfrm>
            <a:off x="4762500" y="1587500"/>
            <a:ext cx="2794000" cy="1460500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478556A-93C2-DC49-9A88-A94A82C3C00F}"/>
              </a:ext>
            </a:extLst>
          </p:cNvPr>
          <p:cNvSpPr/>
          <p:nvPr/>
        </p:nvSpPr>
        <p:spPr>
          <a:xfrm>
            <a:off x="4953000" y="1778000"/>
            <a:ext cx="381000" cy="381000"/>
          </a:xfrm>
          <a:prstGeom prst="ellipse">
            <a:avLst/>
          </a:prstGeom>
          <a:solidFill>
            <a:srgbClr val="7C5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9EA998-9B8A-4D4A-9E03-0815E96FA10F}"/>
              </a:ext>
            </a:extLst>
          </p:cNvPr>
          <p:cNvSpPr txBox="1"/>
          <p:nvPr/>
        </p:nvSpPr>
        <p:spPr>
          <a:xfrm>
            <a:off x="5461000" y="17780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700" b="1">
                <a:solidFill>
                  <a:srgbClr val="1A1A2E"/>
                </a:solidFill>
              </a:rPr>
              <a:t>Agent Runs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6104690-991A-A343-B96C-ECA7D2D1B9EC}"/>
              </a:ext>
            </a:extLst>
          </p:cNvPr>
          <p:cNvSpPr txBox="1"/>
          <p:nvPr/>
        </p:nvSpPr>
        <p:spPr>
          <a:xfrm>
            <a:off x="5461000" y="2159000"/>
            <a:ext cx="190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Complete tour
logged: reasoning
+ tool calls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F96D8F1-BAE6-0B40-87D4-2E49EF121794}"/>
              </a:ext>
            </a:extLst>
          </p:cNvPr>
          <p:cNvSpPr txBox="1"/>
          <p:nvPr/>
        </p:nvSpPr>
        <p:spPr>
          <a:xfrm>
            <a:off x="7708900" y="20955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400">
                <a:solidFill>
                  <a:srgbClr val="BFBFBF"/>
                </a:solidFill>
              </a:rPr>
              <a:t>→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1A5443DB-641B-8741-9E59-5CBEEE8AAE77}"/>
              </a:ext>
            </a:extLst>
          </p:cNvPr>
          <p:cNvSpPr/>
          <p:nvPr/>
        </p:nvSpPr>
        <p:spPr>
          <a:xfrm>
            <a:off x="8255000" y="1587500"/>
            <a:ext cx="2794000" cy="1460500"/>
          </a:xfrm>
          <a:prstGeom prst="roundRect">
            <a:avLst/>
          </a:prstGeom>
          <a:solidFill>
            <a:srgbClr val="F5F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B5FF896-099C-8042-8050-A584C5423F7F}"/>
              </a:ext>
            </a:extLst>
          </p:cNvPr>
          <p:cNvSpPr/>
          <p:nvPr/>
        </p:nvSpPr>
        <p:spPr>
          <a:xfrm>
            <a:off x="8445500" y="1778000"/>
            <a:ext cx="381000" cy="381000"/>
          </a:xfrm>
          <a:prstGeom prst="ellipse">
            <a:avLst/>
          </a:prstGeom>
          <a:solidFill>
            <a:srgbClr val="00C4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468F616-3C96-AA45-8907-41227903A998}"/>
              </a:ext>
            </a:extLst>
          </p:cNvPr>
          <p:cNvSpPr txBox="1"/>
          <p:nvPr/>
        </p:nvSpPr>
        <p:spPr>
          <a:xfrm>
            <a:off x="8953500" y="17780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700" b="1">
                <a:solidFill>
                  <a:srgbClr val="1A1A2E"/>
                </a:solidFill>
              </a:rPr>
              <a:t>Judge Scores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FB232FC-C679-0B47-9A34-30D816DB2210}"/>
              </a:ext>
            </a:extLst>
          </p:cNvPr>
          <p:cNvSpPr txBox="1"/>
          <p:nvPr/>
        </p:nvSpPr>
        <p:spPr>
          <a:xfrm>
            <a:off x="8953500" y="2159000"/>
            <a:ext cx="190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6B6B7B"/>
                </a:solidFill>
              </a:rPr>
              <a:t>Separate LLM
compares vs
ground truth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FD80A47-FDA8-5143-9A76-0A4D4D37A352}"/>
              </a:ext>
            </a:extLst>
          </p:cNvPr>
          <p:cNvSpPr txBox="1"/>
          <p:nvPr/>
        </p:nvSpPr>
        <p:spPr>
          <a:xfrm>
            <a:off x="3009900" y="3354856"/>
            <a:ext cx="508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600" b="1" dirty="0" err="1">
                <a:solidFill>
                  <a:srgbClr val="1A1A2E"/>
                </a:solidFill>
              </a:rPr>
              <a:t>Scoring</a:t>
            </a:r>
            <a:r>
              <a:rPr lang="fr-FR" sz="1600" b="1" dirty="0">
                <a:solidFill>
                  <a:srgbClr val="1A1A2E"/>
                </a:solidFill>
              </a:rPr>
              <a:t> (5 dimensions, 1-5 </a:t>
            </a:r>
            <a:r>
              <a:rPr lang="fr-FR" sz="1600" b="1" dirty="0" err="1">
                <a:solidFill>
                  <a:srgbClr val="1A1A2E"/>
                </a:solidFill>
              </a:rPr>
              <a:t>scale</a:t>
            </a:r>
            <a:r>
              <a:rPr lang="fr-FR" sz="1600" b="1" dirty="0">
                <a:solidFill>
                  <a:srgbClr val="1A1A2E"/>
                </a:solidFill>
              </a:rPr>
              <a:t>)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08D87DC-9DCF-A34E-88E2-811951A829E6}"/>
              </a:ext>
            </a:extLst>
          </p:cNvPr>
          <p:cNvSpPr/>
          <p:nvPr/>
        </p:nvSpPr>
        <p:spPr>
          <a:xfrm>
            <a:off x="4047550" y="3898900"/>
            <a:ext cx="101600" cy="101600"/>
          </a:xfrm>
          <a:prstGeom prst="ellipse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21CD383-038E-F746-8666-F4B07CFFBA31}"/>
              </a:ext>
            </a:extLst>
          </p:cNvPr>
          <p:cNvSpPr txBox="1"/>
          <p:nvPr/>
        </p:nvSpPr>
        <p:spPr>
          <a:xfrm>
            <a:off x="4238050" y="3835400"/>
            <a:ext cx="254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500">
                <a:solidFill>
                  <a:srgbClr val="4A4A5A"/>
                </a:solidFill>
              </a:rPr>
              <a:t>Factual Correctness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1B68B5-6CF0-CB46-AD58-D23B3645415C}"/>
              </a:ext>
            </a:extLst>
          </p:cNvPr>
          <p:cNvSpPr txBox="1"/>
          <p:nvPr/>
        </p:nvSpPr>
        <p:spPr>
          <a:xfrm>
            <a:off x="6905050" y="3835400"/>
            <a:ext cx="76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500" b="1">
                <a:solidFill>
                  <a:srgbClr val="2D5BFF"/>
                </a:solidFill>
              </a:rPr>
              <a:t>30%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4FD8889C-149D-BF4D-AFDD-F9F62FEDC9C9}"/>
              </a:ext>
            </a:extLst>
          </p:cNvPr>
          <p:cNvSpPr/>
          <p:nvPr/>
        </p:nvSpPr>
        <p:spPr>
          <a:xfrm>
            <a:off x="4047550" y="4254500"/>
            <a:ext cx="101600" cy="101600"/>
          </a:xfrm>
          <a:prstGeom prst="ellipse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3FB4443-C744-9B4B-8AA2-FC628513790C}"/>
              </a:ext>
            </a:extLst>
          </p:cNvPr>
          <p:cNvSpPr txBox="1"/>
          <p:nvPr/>
        </p:nvSpPr>
        <p:spPr>
          <a:xfrm>
            <a:off x="4238050" y="4191000"/>
            <a:ext cx="254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500">
                <a:solidFill>
                  <a:srgbClr val="4A4A5A"/>
                </a:solidFill>
              </a:rPr>
              <a:t>Completeness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3C5FAC9-1045-204C-A573-0A832AE59F5C}"/>
              </a:ext>
            </a:extLst>
          </p:cNvPr>
          <p:cNvSpPr txBox="1"/>
          <p:nvPr/>
        </p:nvSpPr>
        <p:spPr>
          <a:xfrm>
            <a:off x="6905050" y="4191000"/>
            <a:ext cx="76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500" b="1">
                <a:solidFill>
                  <a:srgbClr val="2D5BFF"/>
                </a:solidFill>
              </a:rPr>
              <a:t>25%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579E909-E330-8E48-9152-16AA32E3F07B}"/>
              </a:ext>
            </a:extLst>
          </p:cNvPr>
          <p:cNvSpPr/>
          <p:nvPr/>
        </p:nvSpPr>
        <p:spPr>
          <a:xfrm>
            <a:off x="4047550" y="4610100"/>
            <a:ext cx="101600" cy="101600"/>
          </a:xfrm>
          <a:prstGeom prst="ellipse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2C01F8F-7136-EC4B-93DA-220E788A256D}"/>
              </a:ext>
            </a:extLst>
          </p:cNvPr>
          <p:cNvSpPr txBox="1"/>
          <p:nvPr/>
        </p:nvSpPr>
        <p:spPr>
          <a:xfrm>
            <a:off x="4238050" y="4546600"/>
            <a:ext cx="254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500">
                <a:solidFill>
                  <a:srgbClr val="4A4A5A"/>
                </a:solidFill>
              </a:rPr>
              <a:t>Reasoning Quality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41AC42E-7158-E340-A43B-AD40BDDAA7DD}"/>
              </a:ext>
            </a:extLst>
          </p:cNvPr>
          <p:cNvSpPr txBox="1"/>
          <p:nvPr/>
        </p:nvSpPr>
        <p:spPr>
          <a:xfrm>
            <a:off x="6905050" y="4546600"/>
            <a:ext cx="76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500" b="1">
                <a:solidFill>
                  <a:srgbClr val="2D5BFF"/>
                </a:solidFill>
              </a:rPr>
              <a:t>20%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9AA56BB-FBB4-4B41-A437-B661305A835B}"/>
              </a:ext>
            </a:extLst>
          </p:cNvPr>
          <p:cNvSpPr/>
          <p:nvPr/>
        </p:nvSpPr>
        <p:spPr>
          <a:xfrm>
            <a:off x="4047550" y="4965700"/>
            <a:ext cx="101600" cy="101600"/>
          </a:xfrm>
          <a:prstGeom prst="ellipse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9C722BE-0A2B-9F47-96A9-00C4FB400645}"/>
              </a:ext>
            </a:extLst>
          </p:cNvPr>
          <p:cNvSpPr txBox="1"/>
          <p:nvPr/>
        </p:nvSpPr>
        <p:spPr>
          <a:xfrm>
            <a:off x="4238050" y="4902200"/>
            <a:ext cx="254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500">
                <a:solidFill>
                  <a:srgbClr val="4A4A5A"/>
                </a:solidFill>
              </a:rPr>
              <a:t>Source Attribution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ADFD47C-4CE3-8142-B6B0-5FCBB6513AEE}"/>
              </a:ext>
            </a:extLst>
          </p:cNvPr>
          <p:cNvSpPr txBox="1"/>
          <p:nvPr/>
        </p:nvSpPr>
        <p:spPr>
          <a:xfrm>
            <a:off x="6905050" y="4902200"/>
            <a:ext cx="76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500" b="1">
                <a:solidFill>
                  <a:srgbClr val="2D5BFF"/>
                </a:solidFill>
              </a:rPr>
              <a:t>15%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BCA7EAF4-BB05-A446-BA6C-F3FCAB83D034}"/>
              </a:ext>
            </a:extLst>
          </p:cNvPr>
          <p:cNvSpPr/>
          <p:nvPr/>
        </p:nvSpPr>
        <p:spPr>
          <a:xfrm>
            <a:off x="4047550" y="5321300"/>
            <a:ext cx="101600" cy="101600"/>
          </a:xfrm>
          <a:prstGeom prst="ellipse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3866C28-71A8-2647-ABFA-E391774ADE9B}"/>
              </a:ext>
            </a:extLst>
          </p:cNvPr>
          <p:cNvSpPr txBox="1"/>
          <p:nvPr/>
        </p:nvSpPr>
        <p:spPr>
          <a:xfrm>
            <a:off x="4238050" y="5257800"/>
            <a:ext cx="254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500">
                <a:solidFill>
                  <a:srgbClr val="4A4A5A"/>
                </a:solidFill>
              </a:rPr>
              <a:t>Response Structure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374DAB0-D688-4D4B-A29E-D130023AA486}"/>
              </a:ext>
            </a:extLst>
          </p:cNvPr>
          <p:cNvSpPr txBox="1"/>
          <p:nvPr/>
        </p:nvSpPr>
        <p:spPr>
          <a:xfrm>
            <a:off x="6905050" y="5257800"/>
            <a:ext cx="76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1500" b="1">
                <a:solidFill>
                  <a:srgbClr val="2D5BFF"/>
                </a:solidFill>
              </a:rPr>
              <a:t>10%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1BACB7F0-2F8C-7692-3AC6-A55A47CE3A54}"/>
              </a:ext>
            </a:extLst>
          </p:cNvPr>
          <p:cNvSpPr txBox="1"/>
          <p:nvPr/>
        </p:nvSpPr>
        <p:spPr>
          <a:xfrm>
            <a:off x="9233941" y="33727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8196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AFD5605-B191-814A-83CD-EAB25D16E94B}"/>
              </a:ext>
            </a:extLst>
          </p:cNvPr>
          <p:cNvSpPr txBox="1"/>
          <p:nvPr/>
        </p:nvSpPr>
        <p:spPr>
          <a:xfrm>
            <a:off x="889000" y="4445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200" b="1">
                <a:solidFill>
                  <a:srgbClr val="1A1A2E"/>
                </a:solidFill>
              </a:rPr>
              <a:t>Progress &amp; Timeline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3CE7D1-CBBE-D640-8864-09420633922A}"/>
              </a:ext>
            </a:extLst>
          </p:cNvPr>
          <p:cNvSpPr txBox="1"/>
          <p:nvPr/>
        </p:nvSpPr>
        <p:spPr>
          <a:xfrm>
            <a:off x="889000" y="1117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00C48C"/>
                </a:solidFill>
              </a:rPr>
              <a:t>Completed (Weeks 1-5)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38824AA-BC20-9C4E-9758-1D25ED78F0C8}"/>
              </a:ext>
            </a:extLst>
          </p:cNvPr>
          <p:cNvSpPr txBox="1"/>
          <p:nvPr/>
        </p:nvSpPr>
        <p:spPr>
          <a:xfrm>
            <a:off x="1079500" y="14986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 b="1">
                <a:solidFill>
                  <a:srgbClr val="00C48C"/>
                </a:solidFill>
              </a:rPr>
              <a:t>✓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A44564F-8553-004D-859B-61072B8870A7}"/>
              </a:ext>
            </a:extLst>
          </p:cNvPr>
          <p:cNvSpPr txBox="1"/>
          <p:nvPr/>
        </p:nvSpPr>
        <p:spPr>
          <a:xfrm>
            <a:off x="1371600" y="14986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Topic selection, project proposal, architecture concept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50F602B-4CBD-8A4E-8232-1ECE902C6D75}"/>
              </a:ext>
            </a:extLst>
          </p:cNvPr>
          <p:cNvSpPr txBox="1"/>
          <p:nvPr/>
        </p:nvSpPr>
        <p:spPr>
          <a:xfrm>
            <a:off x="1079500" y="18288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 b="1">
                <a:solidFill>
                  <a:srgbClr val="00C48C"/>
                </a:solidFill>
              </a:rPr>
              <a:t>✓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D4620D5-4EB5-C645-A7BB-56966A1170F2}"/>
              </a:ext>
            </a:extLst>
          </p:cNvPr>
          <p:cNvSpPr txBox="1"/>
          <p:nvPr/>
        </p:nvSpPr>
        <p:spPr>
          <a:xfrm>
            <a:off x="1371600" y="18288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SC domain research, literature review of 35+ papers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9C8267E-6199-4248-9605-D7D5188A2946}"/>
              </a:ext>
            </a:extLst>
          </p:cNvPr>
          <p:cNvSpPr txBox="1"/>
          <p:nvPr/>
        </p:nvSpPr>
        <p:spPr>
          <a:xfrm>
            <a:off x="1079500" y="2159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 b="1">
                <a:solidFill>
                  <a:srgbClr val="00C48C"/>
                </a:solidFill>
              </a:rPr>
              <a:t>✓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C438C6A-6E7B-3D44-92CF-0D4DD1BDDCB3}"/>
              </a:ext>
            </a:extLst>
          </p:cNvPr>
          <p:cNvSpPr txBox="1"/>
          <p:nvPr/>
        </p:nvSpPr>
        <p:spPr>
          <a:xfrm>
            <a:off x="1371600" y="21590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Specifications: 3 use cases, LLM-as-Judge design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2476A1-CBBE-BB48-9941-990398EE7B00}"/>
              </a:ext>
            </a:extLst>
          </p:cNvPr>
          <p:cNvSpPr txBox="1"/>
          <p:nvPr/>
        </p:nvSpPr>
        <p:spPr>
          <a:xfrm>
            <a:off x="1079500" y="24892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 b="1">
                <a:solidFill>
                  <a:srgbClr val="00C48C"/>
                </a:solidFill>
              </a:rPr>
              <a:t>✓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D709CAE-522D-1048-8F12-67556FDC8557}"/>
              </a:ext>
            </a:extLst>
          </p:cNvPr>
          <p:cNvSpPr txBox="1"/>
          <p:nvPr/>
        </p:nvSpPr>
        <p:spPr>
          <a:xfrm>
            <a:off x="1371600" y="24892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Go services scaffold, data model, seed data (in progress)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397FA-9B50-6741-8AF5-610EC580F9E5}"/>
              </a:ext>
            </a:extLst>
          </p:cNvPr>
          <p:cNvSpPr/>
          <p:nvPr/>
        </p:nvSpPr>
        <p:spPr>
          <a:xfrm>
            <a:off x="889000" y="2895600"/>
            <a:ext cx="10414000" cy="12700"/>
          </a:xfrm>
          <a:prstGeom prst="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8F73C7D-94C0-E948-B0DE-255E4E94B699}"/>
              </a:ext>
            </a:extLst>
          </p:cNvPr>
          <p:cNvSpPr txBox="1"/>
          <p:nvPr/>
        </p:nvSpPr>
        <p:spPr>
          <a:xfrm>
            <a:off x="889000" y="30734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2D5BFF"/>
                </a:solidFill>
              </a:rPr>
              <a:t>Remaining (March 20 → April 15)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BC5CD37-9466-E74B-A9AF-BDFD9EFDDF46}"/>
              </a:ext>
            </a:extLst>
          </p:cNvPr>
          <p:cNvSpPr/>
          <p:nvPr/>
        </p:nvSpPr>
        <p:spPr>
          <a:xfrm>
            <a:off x="1079500" y="3530600"/>
            <a:ext cx="635000" cy="406400"/>
          </a:xfrm>
          <a:prstGeom prst="round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W1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AE30FF0-9278-CB45-898A-E21AE417B1E1}"/>
              </a:ext>
            </a:extLst>
          </p:cNvPr>
          <p:cNvSpPr txBox="1"/>
          <p:nvPr/>
        </p:nvSpPr>
        <p:spPr>
          <a:xfrm>
            <a:off x="1841500" y="35560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8E8E9A"/>
                </a:solidFill>
              </a:rPr>
              <a:t>Mar 20-26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07B378-E649-EE4C-A76D-2E8D166BF1D6}"/>
              </a:ext>
            </a:extLst>
          </p:cNvPr>
          <p:cNvSpPr txBox="1"/>
          <p:nvPr/>
        </p:nvSpPr>
        <p:spPr>
          <a:xfrm>
            <a:off x="3302000" y="35560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Complete all 4 Go services, seed 15 eval scenarios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D0FDA09-C315-5F49-9695-2C984A4717E5}"/>
              </a:ext>
            </a:extLst>
          </p:cNvPr>
          <p:cNvSpPr/>
          <p:nvPr/>
        </p:nvSpPr>
        <p:spPr>
          <a:xfrm>
            <a:off x="1079500" y="4140200"/>
            <a:ext cx="635000" cy="406400"/>
          </a:xfrm>
          <a:prstGeom prst="round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W2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22FA598-FD95-A04C-8B90-6B610B12D110}"/>
              </a:ext>
            </a:extLst>
          </p:cNvPr>
          <p:cNvSpPr txBox="1"/>
          <p:nvPr/>
        </p:nvSpPr>
        <p:spPr>
          <a:xfrm>
            <a:off x="1841500" y="41656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8E8E9A"/>
                </a:solidFill>
              </a:rPr>
              <a:t>Mar 27-Apr 2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6CCEE33-7CCC-F349-BAAF-72E47344221B}"/>
              </a:ext>
            </a:extLst>
          </p:cNvPr>
          <p:cNvSpPr txBox="1"/>
          <p:nvPr/>
        </p:nvSpPr>
        <p:spPr>
          <a:xfrm>
            <a:off x="3302000" y="41656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MCP tool registration, Claude Code project, skills, ground truth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AA74C00-E0E9-FB41-B484-A567EFDB0F8C}"/>
              </a:ext>
            </a:extLst>
          </p:cNvPr>
          <p:cNvSpPr/>
          <p:nvPr/>
        </p:nvSpPr>
        <p:spPr>
          <a:xfrm>
            <a:off x="1079500" y="4749800"/>
            <a:ext cx="635000" cy="406400"/>
          </a:xfrm>
          <a:prstGeom prst="round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W3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75EA256-67D9-B445-9F87-0AA108B5B9AB}"/>
              </a:ext>
            </a:extLst>
          </p:cNvPr>
          <p:cNvSpPr txBox="1"/>
          <p:nvPr/>
        </p:nvSpPr>
        <p:spPr>
          <a:xfrm>
            <a:off x="1841500" y="47752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8E8E9A"/>
                </a:solidFill>
              </a:rPr>
              <a:t>Apr 3-9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7F7926A-CCBF-8A44-ABF4-3772DE345BA4}"/>
              </a:ext>
            </a:extLst>
          </p:cNvPr>
          <p:cNvSpPr txBox="1"/>
          <p:nvPr/>
        </p:nvSpPr>
        <p:spPr>
          <a:xfrm>
            <a:off x="3302000" y="4775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Integration testing, LLM-as-Judge pipeline, run 45 evals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B3BDF8A-9738-9849-97E1-DF408C2952EA}"/>
              </a:ext>
            </a:extLst>
          </p:cNvPr>
          <p:cNvSpPr/>
          <p:nvPr/>
        </p:nvSpPr>
        <p:spPr>
          <a:xfrm>
            <a:off x="1079500" y="5359400"/>
            <a:ext cx="635000" cy="406400"/>
          </a:xfrm>
          <a:prstGeom prst="round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W4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9322B08-3694-5C41-A880-A2E6E93BF2B2}"/>
              </a:ext>
            </a:extLst>
          </p:cNvPr>
          <p:cNvSpPr txBox="1"/>
          <p:nvPr/>
        </p:nvSpPr>
        <p:spPr>
          <a:xfrm>
            <a:off x="1841500" y="53848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8E8E9A"/>
                </a:solidFill>
              </a:rPr>
              <a:t>Apr 10-15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03C5019-DBAF-0C40-BBB9-0C075FF4AF2D}"/>
              </a:ext>
            </a:extLst>
          </p:cNvPr>
          <p:cNvSpPr txBox="1"/>
          <p:nvPr/>
        </p:nvSpPr>
        <p:spPr>
          <a:xfrm>
            <a:off x="3302000" y="53848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500">
                <a:solidFill>
                  <a:srgbClr val="4A4A5A"/>
                </a:solidFill>
              </a:rPr>
              <a:t>Results analysis, final report, presentation, demo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ACD4DB3-23AF-FE46-A30C-64A6F19CD868}"/>
              </a:ext>
            </a:extLst>
          </p:cNvPr>
          <p:cNvSpPr txBox="1"/>
          <p:nvPr/>
        </p:nvSpPr>
        <p:spPr>
          <a:xfrm>
            <a:off x="889000" y="6070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b="1">
                <a:solidFill>
                  <a:srgbClr val="FF6B6B"/>
                </a:solidFill>
              </a:rPr>
              <a:t>Key Risks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B865BE3-0C04-764B-92B4-9CCBC68D9B61}"/>
              </a:ext>
            </a:extLst>
          </p:cNvPr>
          <p:cNvSpPr txBox="1"/>
          <p:nvPr/>
        </p:nvSpPr>
        <p:spPr>
          <a:xfrm>
            <a:off x="2349500" y="6070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8E8E9A"/>
                </a:solidFill>
              </a:rPr>
              <a:t>Agent inconsistency (mitigate: 3 runs/scenario)  •  LLM-Judge reliability (mitigate: human validation subset)  •  Scope creep (mitigate: strict 3 UCs)</a:t>
            </a:r>
          </a:p>
        </p:txBody>
      </p:sp>
    </p:spTree>
    <p:extLst>
      <p:ext uri="{BB962C8B-B14F-4D97-AF65-F5344CB8AC3E}">
        <p14:creationId xmlns:p14="http://schemas.microsoft.com/office/powerpoint/2010/main" val="143846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"/>
          <p:cNvSpPr/>
          <p:nvPr/>
        </p:nvSpPr>
        <p:spPr>
          <a:xfrm>
            <a:off x="698500" y="355600"/>
            <a:ext cx="76200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fr-FR" sz="3200" b="1" dirty="0" err="1">
                <a:solidFill>
                  <a:srgbClr val="1A1A2E"/>
                </a:solidFill>
                <a:latin typeface="Inter"/>
              </a:rPr>
              <a:t>Development</a:t>
            </a:r>
            <a:r>
              <a:rPr lang="fr-FR" sz="3200" b="1" dirty="0">
                <a:solidFill>
                  <a:srgbClr val="1A1A2E"/>
                </a:solidFill>
                <a:latin typeface="Inter"/>
              </a:rPr>
              <a:t> Roadmap – Gantt Chart</a:t>
            </a:r>
          </a:p>
        </p:txBody>
      </p:sp>
      <p:sp>
        <p:nvSpPr>
          <p:cNvPr id="101" name="ST"/>
          <p:cNvSpPr/>
          <p:nvPr/>
        </p:nvSpPr>
        <p:spPr>
          <a:xfrm>
            <a:off x="698500" y="863600"/>
            <a:ext cx="889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fr-FR" sz="1600" dirty="0">
                <a:solidFill>
                  <a:srgbClr val="6B6B7B"/>
                </a:solidFill>
                <a:latin typeface="Inter"/>
              </a:rPr>
              <a:t>SERGE project timeline — March 17 to April 15, 2025</a:t>
            </a:r>
          </a:p>
        </p:txBody>
      </p:sp>
      <p:sp>
        <p:nvSpPr>
          <p:cNvPr id="102" name="G"/>
          <p:cNvSpPr/>
          <p:nvPr/>
        </p:nvSpPr>
        <p:spPr>
          <a:xfrm>
            <a:off x="2293938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3" name="D"/>
          <p:cNvSpPr/>
          <p:nvPr/>
        </p:nvSpPr>
        <p:spPr>
          <a:xfrm>
            <a:off x="1989138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Mar 17</a:t>
            </a:r>
          </a:p>
        </p:txBody>
      </p:sp>
      <p:sp>
        <p:nvSpPr>
          <p:cNvPr id="104" name="G"/>
          <p:cNvSpPr/>
          <p:nvPr/>
        </p:nvSpPr>
        <p:spPr>
          <a:xfrm>
            <a:off x="2817813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5" name="D"/>
          <p:cNvSpPr/>
          <p:nvPr/>
        </p:nvSpPr>
        <p:spPr>
          <a:xfrm>
            <a:off x="2513013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Mar 19</a:t>
            </a:r>
          </a:p>
        </p:txBody>
      </p:sp>
      <p:sp>
        <p:nvSpPr>
          <p:cNvPr id="106" name="G"/>
          <p:cNvSpPr/>
          <p:nvPr/>
        </p:nvSpPr>
        <p:spPr>
          <a:xfrm>
            <a:off x="3341688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7" name="D"/>
          <p:cNvSpPr/>
          <p:nvPr/>
        </p:nvSpPr>
        <p:spPr>
          <a:xfrm>
            <a:off x="3036888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Mar 21</a:t>
            </a:r>
          </a:p>
        </p:txBody>
      </p:sp>
      <p:sp>
        <p:nvSpPr>
          <p:cNvPr id="108" name="G"/>
          <p:cNvSpPr/>
          <p:nvPr/>
        </p:nvSpPr>
        <p:spPr>
          <a:xfrm>
            <a:off x="3865563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9" name="D"/>
          <p:cNvSpPr/>
          <p:nvPr/>
        </p:nvSpPr>
        <p:spPr>
          <a:xfrm>
            <a:off x="3560763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Mar 23</a:t>
            </a:r>
          </a:p>
        </p:txBody>
      </p:sp>
      <p:sp>
        <p:nvSpPr>
          <p:cNvPr id="110" name="G"/>
          <p:cNvSpPr/>
          <p:nvPr/>
        </p:nvSpPr>
        <p:spPr>
          <a:xfrm>
            <a:off x="4389438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1" name="D"/>
          <p:cNvSpPr/>
          <p:nvPr/>
        </p:nvSpPr>
        <p:spPr>
          <a:xfrm>
            <a:off x="4084638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Mar 25</a:t>
            </a:r>
          </a:p>
        </p:txBody>
      </p:sp>
      <p:sp>
        <p:nvSpPr>
          <p:cNvPr id="112" name="G"/>
          <p:cNvSpPr/>
          <p:nvPr/>
        </p:nvSpPr>
        <p:spPr>
          <a:xfrm>
            <a:off x="4913313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3" name="D"/>
          <p:cNvSpPr/>
          <p:nvPr/>
        </p:nvSpPr>
        <p:spPr>
          <a:xfrm>
            <a:off x="4608513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Mar 27</a:t>
            </a:r>
          </a:p>
        </p:txBody>
      </p:sp>
      <p:sp>
        <p:nvSpPr>
          <p:cNvPr id="114" name="G"/>
          <p:cNvSpPr/>
          <p:nvPr/>
        </p:nvSpPr>
        <p:spPr>
          <a:xfrm>
            <a:off x="5437188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5" name="D"/>
          <p:cNvSpPr/>
          <p:nvPr/>
        </p:nvSpPr>
        <p:spPr>
          <a:xfrm>
            <a:off x="5132388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Mar 29</a:t>
            </a:r>
          </a:p>
        </p:txBody>
      </p:sp>
      <p:sp>
        <p:nvSpPr>
          <p:cNvPr id="116" name="G"/>
          <p:cNvSpPr/>
          <p:nvPr/>
        </p:nvSpPr>
        <p:spPr>
          <a:xfrm>
            <a:off x="5961063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7" name="D"/>
          <p:cNvSpPr/>
          <p:nvPr/>
        </p:nvSpPr>
        <p:spPr>
          <a:xfrm>
            <a:off x="5656263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Mar 31</a:t>
            </a:r>
          </a:p>
        </p:txBody>
      </p:sp>
      <p:sp>
        <p:nvSpPr>
          <p:cNvPr id="118" name="G"/>
          <p:cNvSpPr/>
          <p:nvPr/>
        </p:nvSpPr>
        <p:spPr>
          <a:xfrm>
            <a:off x="6484938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9" name="D"/>
          <p:cNvSpPr/>
          <p:nvPr/>
        </p:nvSpPr>
        <p:spPr>
          <a:xfrm>
            <a:off x="6180138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Apr 02</a:t>
            </a:r>
          </a:p>
        </p:txBody>
      </p:sp>
      <p:sp>
        <p:nvSpPr>
          <p:cNvPr id="120" name="G"/>
          <p:cNvSpPr/>
          <p:nvPr/>
        </p:nvSpPr>
        <p:spPr>
          <a:xfrm>
            <a:off x="7008813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1" name="D"/>
          <p:cNvSpPr/>
          <p:nvPr/>
        </p:nvSpPr>
        <p:spPr>
          <a:xfrm>
            <a:off x="6704013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Apr 04</a:t>
            </a:r>
          </a:p>
        </p:txBody>
      </p:sp>
      <p:sp>
        <p:nvSpPr>
          <p:cNvPr id="122" name="G"/>
          <p:cNvSpPr/>
          <p:nvPr/>
        </p:nvSpPr>
        <p:spPr>
          <a:xfrm>
            <a:off x="7532688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3" name="D"/>
          <p:cNvSpPr/>
          <p:nvPr/>
        </p:nvSpPr>
        <p:spPr>
          <a:xfrm>
            <a:off x="7227888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Apr 06</a:t>
            </a:r>
          </a:p>
        </p:txBody>
      </p:sp>
      <p:sp>
        <p:nvSpPr>
          <p:cNvPr id="124" name="G"/>
          <p:cNvSpPr/>
          <p:nvPr/>
        </p:nvSpPr>
        <p:spPr>
          <a:xfrm>
            <a:off x="8056563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5" name="D"/>
          <p:cNvSpPr/>
          <p:nvPr/>
        </p:nvSpPr>
        <p:spPr>
          <a:xfrm>
            <a:off x="7751763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Apr 08</a:t>
            </a:r>
          </a:p>
        </p:txBody>
      </p:sp>
      <p:sp>
        <p:nvSpPr>
          <p:cNvPr id="126" name="G"/>
          <p:cNvSpPr/>
          <p:nvPr/>
        </p:nvSpPr>
        <p:spPr>
          <a:xfrm>
            <a:off x="8580438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7" name="D"/>
          <p:cNvSpPr/>
          <p:nvPr/>
        </p:nvSpPr>
        <p:spPr>
          <a:xfrm>
            <a:off x="8275638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Apr 10</a:t>
            </a:r>
          </a:p>
        </p:txBody>
      </p:sp>
      <p:sp>
        <p:nvSpPr>
          <p:cNvPr id="128" name="G"/>
          <p:cNvSpPr/>
          <p:nvPr/>
        </p:nvSpPr>
        <p:spPr>
          <a:xfrm>
            <a:off x="9104313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9" name="D"/>
          <p:cNvSpPr/>
          <p:nvPr/>
        </p:nvSpPr>
        <p:spPr>
          <a:xfrm>
            <a:off x="8799513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Apr 12</a:t>
            </a:r>
          </a:p>
        </p:txBody>
      </p:sp>
      <p:sp>
        <p:nvSpPr>
          <p:cNvPr id="130" name="G"/>
          <p:cNvSpPr/>
          <p:nvPr/>
        </p:nvSpPr>
        <p:spPr>
          <a:xfrm>
            <a:off x="9628188" y="1244600"/>
            <a:ext cx="6350" cy="42799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1" name="D"/>
          <p:cNvSpPr/>
          <p:nvPr/>
        </p:nvSpPr>
        <p:spPr>
          <a:xfrm>
            <a:off x="9323388" y="5575300"/>
            <a:ext cx="635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fr-FR" sz="700" dirty="0">
                <a:solidFill>
                  <a:srgbClr val="6B6B7B"/>
                </a:solidFill>
                <a:latin typeface="Inter"/>
              </a:rPr>
              <a:t>Apr 14</a:t>
            </a:r>
          </a:p>
        </p:txBody>
      </p:sp>
      <p:sp>
        <p:nvSpPr>
          <p:cNvPr id="132" name="BG"/>
          <p:cNvSpPr/>
          <p:nvPr/>
        </p:nvSpPr>
        <p:spPr>
          <a:xfrm>
            <a:off x="698500" y="1257300"/>
            <a:ext cx="11112500" cy="876300"/>
          </a:xfrm>
          <a:prstGeom prst="rect">
            <a:avLst/>
          </a:prstGeom>
          <a:solidFill>
            <a:srgbClr val="EEEEF6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3" name="CL"/>
          <p:cNvSpPr/>
          <p:nvPr/>
        </p:nvSpPr>
        <p:spPr>
          <a:xfrm>
            <a:off x="749300" y="1593850"/>
            <a:ext cx="127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900" b="1" dirty="0">
                <a:solidFill>
                  <a:srgbClr val="1A1A2E"/>
                </a:solidFill>
                <a:latin typeface="Inter"/>
              </a:rPr>
              <a:t>Go Services</a:t>
            </a:r>
          </a:p>
        </p:txBody>
      </p:sp>
      <p:sp>
        <p:nvSpPr>
          <p:cNvPr id="134" name="B"/>
          <p:cNvSpPr/>
          <p:nvPr/>
        </p:nvSpPr>
        <p:spPr>
          <a:xfrm>
            <a:off x="2293938" y="1320800"/>
            <a:ext cx="1047750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5" name="L"/>
          <p:cNvSpPr/>
          <p:nvPr/>
        </p:nvSpPr>
        <p:spPr>
          <a:xfrm>
            <a:off x="3392488" y="1320800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SRM &amp; WMS services</a:t>
            </a:r>
          </a:p>
        </p:txBody>
      </p:sp>
      <p:sp>
        <p:nvSpPr>
          <p:cNvPr id="136" name="B"/>
          <p:cNvSpPr/>
          <p:nvPr/>
        </p:nvSpPr>
        <p:spPr>
          <a:xfrm>
            <a:off x="2817813" y="1612900"/>
            <a:ext cx="1309688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7" name="L"/>
          <p:cNvSpPr/>
          <p:nvPr/>
        </p:nvSpPr>
        <p:spPr>
          <a:xfrm>
            <a:off x="4178300" y="1612900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OMS &amp; TMS services</a:t>
            </a:r>
          </a:p>
        </p:txBody>
      </p:sp>
      <p:sp>
        <p:nvSpPr>
          <p:cNvPr id="138" name="B"/>
          <p:cNvSpPr/>
          <p:nvPr/>
        </p:nvSpPr>
        <p:spPr>
          <a:xfrm>
            <a:off x="3603625" y="1905000"/>
            <a:ext cx="1047750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9" name="L"/>
          <p:cNvSpPr/>
          <p:nvPr/>
        </p:nvSpPr>
        <p:spPr>
          <a:xfrm>
            <a:off x="4702175" y="1905000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Seed data</a:t>
            </a:r>
          </a:p>
        </p:txBody>
      </p:sp>
      <p:sp>
        <p:nvSpPr>
          <p:cNvPr id="140" name="BG"/>
          <p:cNvSpPr/>
          <p:nvPr/>
        </p:nvSpPr>
        <p:spPr>
          <a:xfrm>
            <a:off x="698500" y="2171700"/>
            <a:ext cx="11112500" cy="584200"/>
          </a:xfrm>
          <a:prstGeom prst="rect">
            <a:avLst/>
          </a:prstGeom>
          <a:solidFill>
            <a:srgbClr val="EEEEF6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1" name="CL"/>
          <p:cNvSpPr/>
          <p:nvPr/>
        </p:nvSpPr>
        <p:spPr>
          <a:xfrm>
            <a:off x="749300" y="2362200"/>
            <a:ext cx="127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900" b="1" dirty="0">
                <a:solidFill>
                  <a:srgbClr val="1A1A2E"/>
                </a:solidFill>
                <a:latin typeface="Inter"/>
              </a:rPr>
              <a:t>MCP Layer</a:t>
            </a:r>
          </a:p>
        </p:txBody>
      </p:sp>
      <p:sp>
        <p:nvSpPr>
          <p:cNvPr id="142" name="B"/>
          <p:cNvSpPr/>
          <p:nvPr/>
        </p:nvSpPr>
        <p:spPr>
          <a:xfrm>
            <a:off x="4127500" y="2235200"/>
            <a:ext cx="1309688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3" name="L"/>
          <p:cNvSpPr/>
          <p:nvPr/>
        </p:nvSpPr>
        <p:spPr>
          <a:xfrm>
            <a:off x="5487988" y="2235200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MCP tool registration</a:t>
            </a:r>
          </a:p>
        </p:txBody>
      </p:sp>
      <p:sp>
        <p:nvSpPr>
          <p:cNvPr id="144" name="B"/>
          <p:cNvSpPr/>
          <p:nvPr/>
        </p:nvSpPr>
        <p:spPr>
          <a:xfrm>
            <a:off x="5699125" y="2527300"/>
            <a:ext cx="1047750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5" name="L"/>
          <p:cNvSpPr/>
          <p:nvPr/>
        </p:nvSpPr>
        <p:spPr>
          <a:xfrm>
            <a:off x="6797675" y="2527300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Tool testing</a:t>
            </a:r>
          </a:p>
        </p:txBody>
      </p:sp>
      <p:sp>
        <p:nvSpPr>
          <p:cNvPr id="146" name="BG"/>
          <p:cNvSpPr/>
          <p:nvPr/>
        </p:nvSpPr>
        <p:spPr>
          <a:xfrm>
            <a:off x="698500" y="2794000"/>
            <a:ext cx="11112500" cy="584200"/>
          </a:xfrm>
          <a:prstGeom prst="rect">
            <a:avLst/>
          </a:prstGeom>
          <a:solidFill>
            <a:srgbClr val="FFF9C4">
              <a:alpha val="7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7" name="CL"/>
          <p:cNvSpPr/>
          <p:nvPr/>
        </p:nvSpPr>
        <p:spPr>
          <a:xfrm>
            <a:off x="749300" y="2984500"/>
            <a:ext cx="127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900" b="1" dirty="0">
                <a:solidFill>
                  <a:srgbClr val="1A1A2E"/>
                </a:solidFill>
                <a:latin typeface="Inter"/>
              </a:rPr>
              <a:t>Agent</a:t>
            </a:r>
          </a:p>
        </p:txBody>
      </p:sp>
      <p:sp>
        <p:nvSpPr>
          <p:cNvPr id="148" name="B"/>
          <p:cNvSpPr/>
          <p:nvPr/>
        </p:nvSpPr>
        <p:spPr>
          <a:xfrm>
            <a:off x="5699125" y="2857500"/>
            <a:ext cx="1309688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9" name="L"/>
          <p:cNvSpPr/>
          <p:nvPr/>
        </p:nvSpPr>
        <p:spPr>
          <a:xfrm>
            <a:off x="7059613" y="2857500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Project folder &amp; CLAUDE.md</a:t>
            </a:r>
          </a:p>
        </p:txBody>
      </p:sp>
      <p:sp>
        <p:nvSpPr>
          <p:cNvPr id="150" name="B"/>
          <p:cNvSpPr/>
          <p:nvPr/>
        </p:nvSpPr>
        <p:spPr>
          <a:xfrm>
            <a:off x="6223000" y="3149600"/>
            <a:ext cx="1309688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1" name="L"/>
          <p:cNvSpPr/>
          <p:nvPr/>
        </p:nvSpPr>
        <p:spPr>
          <a:xfrm>
            <a:off x="7583488" y="3149600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Skills &amp; integration test</a:t>
            </a:r>
          </a:p>
        </p:txBody>
      </p:sp>
      <p:sp>
        <p:nvSpPr>
          <p:cNvPr id="152" name="BG"/>
          <p:cNvSpPr/>
          <p:nvPr/>
        </p:nvSpPr>
        <p:spPr>
          <a:xfrm>
            <a:off x="698500" y="3416300"/>
            <a:ext cx="11112500" cy="1168400"/>
          </a:xfrm>
          <a:prstGeom prst="rect">
            <a:avLst/>
          </a:prstGeom>
          <a:solidFill>
            <a:srgbClr val="EEEEF6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3" name="CL"/>
          <p:cNvSpPr/>
          <p:nvPr/>
        </p:nvSpPr>
        <p:spPr>
          <a:xfrm>
            <a:off x="749300" y="3898900"/>
            <a:ext cx="127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900" b="1" dirty="0">
                <a:solidFill>
                  <a:srgbClr val="1A1A2E"/>
                </a:solidFill>
                <a:latin typeface="Inter"/>
              </a:rPr>
              <a:t>Evaluation</a:t>
            </a:r>
          </a:p>
        </p:txBody>
      </p:sp>
      <p:sp>
        <p:nvSpPr>
          <p:cNvPr id="154" name="B"/>
          <p:cNvSpPr/>
          <p:nvPr/>
        </p:nvSpPr>
        <p:spPr>
          <a:xfrm>
            <a:off x="4651375" y="3479800"/>
            <a:ext cx="1833563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5" name="L"/>
          <p:cNvSpPr/>
          <p:nvPr/>
        </p:nvSpPr>
        <p:spPr>
          <a:xfrm>
            <a:off x="6535738" y="3479800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Ground truth (15 scenarios)</a:t>
            </a:r>
          </a:p>
        </p:txBody>
      </p:sp>
      <p:sp>
        <p:nvSpPr>
          <p:cNvPr id="156" name="B"/>
          <p:cNvSpPr/>
          <p:nvPr/>
        </p:nvSpPr>
        <p:spPr>
          <a:xfrm>
            <a:off x="6746875" y="3771900"/>
            <a:ext cx="1309688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7" name="L"/>
          <p:cNvSpPr/>
          <p:nvPr/>
        </p:nvSpPr>
        <p:spPr>
          <a:xfrm>
            <a:off x="8107363" y="3771900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LLM-as-Judge pipeline</a:t>
            </a:r>
          </a:p>
        </p:txBody>
      </p:sp>
      <p:sp>
        <p:nvSpPr>
          <p:cNvPr id="158" name="B"/>
          <p:cNvSpPr/>
          <p:nvPr/>
        </p:nvSpPr>
        <p:spPr>
          <a:xfrm>
            <a:off x="7532688" y="4064000"/>
            <a:ext cx="1309688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9" name="L"/>
          <p:cNvSpPr/>
          <p:nvPr/>
        </p:nvSpPr>
        <p:spPr>
          <a:xfrm>
            <a:off x="8893175" y="4064000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Evaluation runs (45 runs)</a:t>
            </a:r>
          </a:p>
        </p:txBody>
      </p:sp>
      <p:sp>
        <p:nvSpPr>
          <p:cNvPr id="160" name="B"/>
          <p:cNvSpPr/>
          <p:nvPr/>
        </p:nvSpPr>
        <p:spPr>
          <a:xfrm>
            <a:off x="8056563" y="4356100"/>
            <a:ext cx="785813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61" name="L"/>
          <p:cNvSpPr/>
          <p:nvPr/>
        </p:nvSpPr>
        <p:spPr>
          <a:xfrm>
            <a:off x="8893175" y="4356100"/>
            <a:ext cx="2540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Results analysis</a:t>
            </a:r>
          </a:p>
        </p:txBody>
      </p:sp>
      <p:sp>
        <p:nvSpPr>
          <p:cNvPr id="162" name="BG"/>
          <p:cNvSpPr/>
          <p:nvPr/>
        </p:nvSpPr>
        <p:spPr>
          <a:xfrm>
            <a:off x="698500" y="4622800"/>
            <a:ext cx="11112500" cy="876300"/>
          </a:xfrm>
          <a:prstGeom prst="rect">
            <a:avLst/>
          </a:prstGeom>
          <a:solidFill>
            <a:srgbClr val="EEEEF6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63" name="CL"/>
          <p:cNvSpPr/>
          <p:nvPr/>
        </p:nvSpPr>
        <p:spPr>
          <a:xfrm>
            <a:off x="749300" y="4959350"/>
            <a:ext cx="127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900" b="1" dirty="0">
                <a:solidFill>
                  <a:srgbClr val="1A1A2E"/>
                </a:solidFill>
                <a:latin typeface="Inter"/>
              </a:rPr>
              <a:t>Deliverables</a:t>
            </a:r>
          </a:p>
        </p:txBody>
      </p:sp>
      <p:sp>
        <p:nvSpPr>
          <p:cNvPr id="164" name="B"/>
          <p:cNvSpPr/>
          <p:nvPr/>
        </p:nvSpPr>
        <p:spPr>
          <a:xfrm>
            <a:off x="8056563" y="4686300"/>
            <a:ext cx="1309688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65" name="L"/>
          <p:cNvSpPr/>
          <p:nvPr/>
        </p:nvSpPr>
        <p:spPr>
          <a:xfrm>
            <a:off x="9417050" y="4686300"/>
            <a:ext cx="239395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Final report</a:t>
            </a:r>
          </a:p>
        </p:txBody>
      </p:sp>
      <p:sp>
        <p:nvSpPr>
          <p:cNvPr id="166" name="B"/>
          <p:cNvSpPr/>
          <p:nvPr/>
        </p:nvSpPr>
        <p:spPr>
          <a:xfrm>
            <a:off x="8842375" y="4978400"/>
            <a:ext cx="1047750" cy="177800"/>
          </a:xfrm>
          <a:prstGeom prst="roundRect">
            <a:avLst>
              <a:gd name="adj" fmla="val 30000"/>
            </a:avLst>
          </a:prstGeom>
          <a:solidFill>
            <a:srgbClr val="7B83C1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67" name="L"/>
          <p:cNvSpPr/>
          <p:nvPr/>
        </p:nvSpPr>
        <p:spPr>
          <a:xfrm>
            <a:off x="9940925" y="4978400"/>
            <a:ext cx="1870075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fr-FR" sz="800" dirty="0">
                <a:solidFill>
                  <a:srgbClr val="1A1A2E"/>
                </a:solidFill>
                <a:latin typeface="Inter"/>
              </a:rPr>
              <a:t>Presentation</a:t>
            </a:r>
          </a:p>
        </p:txBody>
      </p:sp>
      <p:sp>
        <p:nvSpPr>
          <p:cNvPr id="168" name="DM"/>
          <p:cNvSpPr/>
          <p:nvPr/>
        </p:nvSpPr>
        <p:spPr>
          <a:xfrm rot="2700000">
            <a:off x="9813925" y="5283200"/>
            <a:ext cx="152400" cy="152400"/>
          </a:xfrm>
          <a:prstGeom prst="rect">
            <a:avLst/>
          </a:prstGeom>
          <a:solidFill>
            <a:srgbClr val="6670B5"/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69" name="DL"/>
          <p:cNvSpPr/>
          <p:nvPr/>
        </p:nvSpPr>
        <p:spPr>
          <a:xfrm>
            <a:off x="9191625" y="5257800"/>
            <a:ext cx="5842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fr-FR" sz="800" i="1" dirty="0">
                <a:solidFill>
                  <a:srgbClr val="6670B5"/>
                </a:solidFill>
                <a:latin typeface="Inter"/>
              </a:rPr>
              <a:t>Demo</a:t>
            </a:r>
          </a:p>
        </p:txBody>
      </p:sp>
      <p:sp>
        <p:nvSpPr>
          <p:cNvPr id="170" name="F"/>
          <p:cNvSpPr/>
          <p:nvPr/>
        </p:nvSpPr>
        <p:spPr>
          <a:xfrm>
            <a:off x="698500" y="6070600"/>
            <a:ext cx="381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fr-FR" sz="1400" dirty="0">
                <a:solidFill>
                  <a:srgbClr val="BFBFBF"/>
                </a:solidFill>
                <a:latin typeface="Inter"/>
              </a:rPr>
              <a:t>SERGE — SE618 Project</a:t>
            </a:r>
          </a:p>
        </p:txBody>
      </p:sp>
    </p:spTree>
    <p:extLst>
      <p:ext uri="{BB962C8B-B14F-4D97-AF65-F5344CB8AC3E}">
        <p14:creationId xmlns:p14="http://schemas.microsoft.com/office/powerpoint/2010/main" val="1420813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ECC936-7BE5-3747-87AA-5678A0840E41}"/>
              </a:ext>
            </a:extLst>
          </p:cNvPr>
          <p:cNvSpPr/>
          <p:nvPr/>
        </p:nvSpPr>
        <p:spPr>
          <a:xfrm>
            <a:off x="0" y="0"/>
            <a:ext cx="4318000" cy="6858000"/>
          </a:xfrm>
          <a:prstGeom prst="rect">
            <a:avLst/>
          </a:prstGeom>
          <a:solidFill>
            <a:srgbClr val="2D5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4242993-A38F-5346-B9A4-033660A51CBC}"/>
              </a:ext>
            </a:extLst>
          </p:cNvPr>
          <p:cNvSpPr txBox="1"/>
          <p:nvPr/>
        </p:nvSpPr>
        <p:spPr>
          <a:xfrm>
            <a:off x="508000" y="25400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4400" b="1">
                <a:solidFill>
                  <a:srgbClr val="FFFFFF"/>
                </a:solidFill>
              </a:rPr>
              <a:t>SERGE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0EFD26F-DC4C-4E4B-9A75-481FDDC4868D}"/>
              </a:ext>
            </a:extLst>
          </p:cNvPr>
          <p:cNvSpPr txBox="1"/>
          <p:nvPr/>
        </p:nvSpPr>
        <p:spPr>
          <a:xfrm>
            <a:off x="508000" y="3365500"/>
            <a:ext cx="330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>
                <a:solidFill>
                  <a:srgbClr val="FFFFFF"/>
                </a:solidFill>
              </a:rPr>
              <a:t>AI Agent for
Supply Chain
Operations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C6642D3-AC21-2F47-AA19-4FBB65411799}"/>
              </a:ext>
            </a:extLst>
          </p:cNvPr>
          <p:cNvSpPr txBox="1"/>
          <p:nvPr/>
        </p:nvSpPr>
        <p:spPr>
          <a:xfrm>
            <a:off x="5334000" y="2413000"/>
            <a:ext cx="609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3600" b="1">
                <a:solidFill>
                  <a:srgbClr val="1A1A2E"/>
                </a:solidFill>
              </a:rPr>
              <a:t>Questions?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3662975-19AD-4D4F-A8A0-D0FA6ED0BCF3}"/>
              </a:ext>
            </a:extLst>
          </p:cNvPr>
          <p:cNvSpPr txBox="1"/>
          <p:nvPr/>
        </p:nvSpPr>
        <p:spPr>
          <a:xfrm>
            <a:off x="5334000" y="3149600"/>
            <a:ext cx="609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>
                <a:solidFill>
                  <a:srgbClr val="6B6B7B"/>
                </a:solidFill>
              </a:rPr>
              <a:t>Thank you for your attention.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90CA384-C82D-494C-87FB-01748E6BFAF6}"/>
              </a:ext>
            </a:extLst>
          </p:cNvPr>
          <p:cNvSpPr txBox="1"/>
          <p:nvPr/>
        </p:nvSpPr>
        <p:spPr>
          <a:xfrm>
            <a:off x="5334000" y="4318000"/>
            <a:ext cx="609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>
                <a:solidFill>
                  <a:srgbClr val="ABABAB"/>
                </a:solidFill>
              </a:rPr>
              <a:t>SE618 Logistic Case Study Analysis
Semester 2/2025
SIIT, Thammasat University</a:t>
            </a:r>
          </a:p>
        </p:txBody>
      </p:sp>
    </p:spTree>
    <p:extLst>
      <p:ext uri="{BB962C8B-B14F-4D97-AF65-F5344CB8AC3E}">
        <p14:creationId xmlns:p14="http://schemas.microsoft.com/office/powerpoint/2010/main" val="41730934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3a96391-d754-4106-a9ce-3ac270301d09}">
  <we:reference id="WA200010001" version="1.0.0.1" store="fr-FR" storeType="OMEX"/>
  <we:alternateReferences/>
  <we:properties>
    <we:property name="Microsoft.Office.CampaignId" value="&quot;none&quot;"/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2863</TotalTime>
  <Words>1251</Words>
  <Application>Microsoft Macintosh PowerPoint</Application>
  <PresentationFormat>Grand écran</PresentationFormat>
  <Paragraphs>248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Inter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Louis GRIGNOLA</cp:lastModifiedBy>
  <cp:revision>5</cp:revision>
  <dcterms:created xsi:type="dcterms:W3CDTF">2018-06-07T21:39:02Z</dcterms:created>
  <dcterms:modified xsi:type="dcterms:W3CDTF">2026-03-13T10:35:03Z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